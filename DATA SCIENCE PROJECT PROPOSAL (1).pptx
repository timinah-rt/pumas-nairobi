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3" r:id="rId3"/>
    <p:sldId id="264" r:id="rId4"/>
    <p:sldId id="265" r:id="rId5"/>
    <p:sldId id="266" r:id="rId6"/>
    <p:sldId id="261" r:id="rId7"/>
    <p:sldId id="262"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118" autoAdjust="0"/>
  </p:normalViewPr>
  <p:slideViewPr>
    <p:cSldViewPr snapToGrid="0">
      <p:cViewPr varScale="1">
        <p:scale>
          <a:sx n="77" d="100"/>
          <a:sy n="77" d="100"/>
        </p:scale>
        <p:origin x="9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4B168C-D2A3-4D5A-8D75-A9C7877C2BF1}" type="doc">
      <dgm:prSet loTypeId="urn:microsoft.com/office/officeart/2005/8/layout/cycle1" loCatId="cycle" qsTypeId="urn:microsoft.com/office/officeart/2005/8/quickstyle/simple5" qsCatId="simple" csTypeId="urn:microsoft.com/office/officeart/2005/8/colors/accent0_3" csCatId="mainScheme"/>
      <dgm:spPr/>
      <dgm:t>
        <a:bodyPr/>
        <a:lstStyle/>
        <a:p>
          <a:endParaRPr lang="en-US"/>
        </a:p>
      </dgm:t>
    </dgm:pt>
    <dgm:pt modelId="{183D427C-BB34-4DB6-B21B-216AC4B210D1}">
      <dgm:prSet/>
      <dgm:spPr/>
      <dgm:t>
        <a:bodyPr/>
        <a:lstStyle/>
        <a:p>
          <a:r>
            <a:rPr lang="en-US" b="1"/>
            <a:t>INTRODUCTION</a:t>
          </a:r>
          <a:endParaRPr lang="en-US"/>
        </a:p>
      </dgm:t>
    </dgm:pt>
    <dgm:pt modelId="{4B497849-0EC1-47C7-BDA6-F7EF4DEB8C7C}" type="parTrans" cxnId="{C0264A44-9780-404F-B63E-0E998AD61E8F}">
      <dgm:prSet/>
      <dgm:spPr/>
      <dgm:t>
        <a:bodyPr/>
        <a:lstStyle/>
        <a:p>
          <a:endParaRPr lang="en-US"/>
        </a:p>
      </dgm:t>
    </dgm:pt>
    <dgm:pt modelId="{18335646-A7E8-4918-8D72-855818B7F1BE}" type="sibTrans" cxnId="{C0264A44-9780-404F-B63E-0E998AD61E8F}">
      <dgm:prSet/>
      <dgm:spPr/>
      <dgm:t>
        <a:bodyPr/>
        <a:lstStyle/>
        <a:p>
          <a:endParaRPr lang="en-US"/>
        </a:p>
      </dgm:t>
    </dgm:pt>
    <dgm:pt modelId="{06358440-C5E1-4C55-A7D8-A0E72D9B26C8}">
      <dgm:prSet/>
      <dgm:spPr/>
      <dgm:t>
        <a:bodyPr/>
        <a:lstStyle/>
        <a:p>
          <a:r>
            <a:rPr lang="en-US"/>
            <a:t>Urban mobility serves as the backbone of economic productivity and is a critical component of modern "Smart City" infrastructure. It encompasses the complex systems and behavioral patterns through which residents navigate the built environment.</a:t>
          </a:r>
        </a:p>
      </dgm:t>
    </dgm:pt>
    <dgm:pt modelId="{4C66CE68-8345-412F-8192-66F91F163055}" type="parTrans" cxnId="{5D578496-AB05-440D-9346-E2D658610911}">
      <dgm:prSet/>
      <dgm:spPr/>
      <dgm:t>
        <a:bodyPr/>
        <a:lstStyle/>
        <a:p>
          <a:endParaRPr lang="en-US"/>
        </a:p>
      </dgm:t>
    </dgm:pt>
    <dgm:pt modelId="{0C810493-6626-46AE-9874-2383F597A106}" type="sibTrans" cxnId="{5D578496-AB05-440D-9346-E2D658610911}">
      <dgm:prSet/>
      <dgm:spPr/>
      <dgm:t>
        <a:bodyPr/>
        <a:lstStyle/>
        <a:p>
          <a:endParaRPr lang="en-US"/>
        </a:p>
      </dgm:t>
    </dgm:pt>
    <dgm:pt modelId="{ABD4B5EE-93FE-46EB-8311-4A17EB80A36D}">
      <dgm:prSet/>
      <dgm:spPr/>
      <dgm:t>
        <a:bodyPr/>
        <a:lstStyle/>
        <a:p>
          <a:r>
            <a:rPr lang="en-US"/>
            <a:t>As urban populations grow, the efficiency of these transportation systems becomes a critical challenge, as historical data shows that physical infrastructure expansion rarely keeps pace with exponential vehicle density.</a:t>
          </a:r>
        </a:p>
      </dgm:t>
    </dgm:pt>
    <dgm:pt modelId="{DFAA311B-A2C8-4605-915B-A4B263500206}" type="parTrans" cxnId="{D43AD2FF-36D0-4B05-8688-8FBA061A4882}">
      <dgm:prSet/>
      <dgm:spPr/>
      <dgm:t>
        <a:bodyPr/>
        <a:lstStyle/>
        <a:p>
          <a:endParaRPr lang="en-US"/>
        </a:p>
      </dgm:t>
    </dgm:pt>
    <dgm:pt modelId="{DC7AD732-5A40-433E-ADD3-0C83839A6F45}" type="sibTrans" cxnId="{D43AD2FF-36D0-4B05-8688-8FBA061A4882}">
      <dgm:prSet/>
      <dgm:spPr/>
      <dgm:t>
        <a:bodyPr/>
        <a:lstStyle/>
        <a:p>
          <a:endParaRPr lang="en-US"/>
        </a:p>
      </dgm:t>
    </dgm:pt>
    <dgm:pt modelId="{F172F792-B5C4-4A2B-8968-28656742AFAB}">
      <dgm:prSet/>
      <dgm:spPr/>
      <dgm:t>
        <a:bodyPr/>
        <a:lstStyle/>
        <a:p>
          <a:r>
            <a:rPr lang="en-US"/>
            <a:t>Currently, traffic operations are often conducted through centralized command centers utilizing fixed sensors and manual observation of CCTV feeds. This reliance on static traffic counts and manual oversight sets the stage for the problems of chronic congestion and systemic delays. </a:t>
          </a:r>
        </a:p>
      </dgm:t>
    </dgm:pt>
    <dgm:pt modelId="{0FDEA9DF-853C-44CA-93A7-C080CE267BB2}" type="parTrans" cxnId="{4641EC80-EDF4-49CA-8038-DA74ADC19A3F}">
      <dgm:prSet/>
      <dgm:spPr/>
      <dgm:t>
        <a:bodyPr/>
        <a:lstStyle/>
        <a:p>
          <a:endParaRPr lang="en-US"/>
        </a:p>
      </dgm:t>
    </dgm:pt>
    <dgm:pt modelId="{EC70D998-7C53-4DDF-99AA-D6DA56654629}" type="sibTrans" cxnId="{4641EC80-EDF4-49CA-8038-DA74ADC19A3F}">
      <dgm:prSet/>
      <dgm:spPr/>
      <dgm:t>
        <a:bodyPr/>
        <a:lstStyle/>
        <a:p>
          <a:endParaRPr lang="en-US"/>
        </a:p>
      </dgm:t>
    </dgm:pt>
    <dgm:pt modelId="{7EA083FB-D244-41EA-BD50-41ECF5468491}">
      <dgm:prSet/>
      <dgm:spPr/>
      <dgm:t>
        <a:bodyPr/>
        <a:lstStyle/>
        <a:p>
          <a:r>
            <a:rPr lang="en-US"/>
            <a:t>This project focuses on the "pulse" of the city by analyzing large-scale mobility datasets—such as taxi and Uber records—at the intersection of Data Science and Urban Planning to modernize current operations.</a:t>
          </a:r>
        </a:p>
      </dgm:t>
    </dgm:pt>
    <dgm:pt modelId="{204511F9-8F7A-49EA-9B03-88C36723F968}" type="parTrans" cxnId="{CF9FAB2B-A48C-4DAF-8E5E-C6D76DF6C366}">
      <dgm:prSet/>
      <dgm:spPr/>
      <dgm:t>
        <a:bodyPr/>
        <a:lstStyle/>
        <a:p>
          <a:endParaRPr lang="en-US"/>
        </a:p>
      </dgm:t>
    </dgm:pt>
    <dgm:pt modelId="{F5C8F2C8-F847-4EFC-A235-D0BC3DAFAECE}" type="sibTrans" cxnId="{CF9FAB2B-A48C-4DAF-8E5E-C6D76DF6C366}">
      <dgm:prSet/>
      <dgm:spPr/>
      <dgm:t>
        <a:bodyPr/>
        <a:lstStyle/>
        <a:p>
          <a:endParaRPr lang="en-US"/>
        </a:p>
      </dgm:t>
    </dgm:pt>
    <dgm:pt modelId="{FDF04786-77F5-48C4-B36E-762957E72ACC}" type="pres">
      <dgm:prSet presAssocID="{FE4B168C-D2A3-4D5A-8D75-A9C7877C2BF1}" presName="cycle" presStyleCnt="0">
        <dgm:presLayoutVars>
          <dgm:dir/>
          <dgm:resizeHandles val="exact"/>
        </dgm:presLayoutVars>
      </dgm:prSet>
      <dgm:spPr/>
    </dgm:pt>
    <dgm:pt modelId="{FE633B13-04EE-4D5A-915C-40A650C7AE69}" type="pres">
      <dgm:prSet presAssocID="{183D427C-BB34-4DB6-B21B-216AC4B210D1}" presName="node" presStyleLbl="revTx" presStyleIdx="0" presStyleCnt="1">
        <dgm:presLayoutVars>
          <dgm:bulletEnabled val="1"/>
        </dgm:presLayoutVars>
      </dgm:prSet>
      <dgm:spPr/>
    </dgm:pt>
  </dgm:ptLst>
  <dgm:cxnLst>
    <dgm:cxn modelId="{65ADEF11-BAC3-477F-BE41-584E75E41577}" type="presOf" srcId="{06358440-C5E1-4C55-A7D8-A0E72D9B26C8}" destId="{FE633B13-04EE-4D5A-915C-40A650C7AE69}" srcOrd="0" destOrd="1" presId="urn:microsoft.com/office/officeart/2005/8/layout/cycle1"/>
    <dgm:cxn modelId="{CF9FAB2B-A48C-4DAF-8E5E-C6D76DF6C366}" srcId="{183D427C-BB34-4DB6-B21B-216AC4B210D1}" destId="{7EA083FB-D244-41EA-BD50-41ECF5468491}" srcOrd="3" destOrd="0" parTransId="{204511F9-8F7A-49EA-9B03-88C36723F968}" sibTransId="{F5C8F2C8-F847-4EFC-A235-D0BC3DAFAECE}"/>
    <dgm:cxn modelId="{C0264A44-9780-404F-B63E-0E998AD61E8F}" srcId="{FE4B168C-D2A3-4D5A-8D75-A9C7877C2BF1}" destId="{183D427C-BB34-4DB6-B21B-216AC4B210D1}" srcOrd="0" destOrd="0" parTransId="{4B497849-0EC1-47C7-BDA6-F7EF4DEB8C7C}" sibTransId="{18335646-A7E8-4918-8D72-855818B7F1BE}"/>
    <dgm:cxn modelId="{0948F149-DD35-4A93-9F0F-76AFDE051FBF}" type="presOf" srcId="{ABD4B5EE-93FE-46EB-8311-4A17EB80A36D}" destId="{FE633B13-04EE-4D5A-915C-40A650C7AE69}" srcOrd="0" destOrd="2" presId="urn:microsoft.com/office/officeart/2005/8/layout/cycle1"/>
    <dgm:cxn modelId="{4641EC80-EDF4-49CA-8038-DA74ADC19A3F}" srcId="{183D427C-BB34-4DB6-B21B-216AC4B210D1}" destId="{F172F792-B5C4-4A2B-8968-28656742AFAB}" srcOrd="2" destOrd="0" parTransId="{0FDEA9DF-853C-44CA-93A7-C080CE267BB2}" sibTransId="{EC70D998-7C53-4DDF-99AA-D6DA56654629}"/>
    <dgm:cxn modelId="{5505C189-D698-457E-BF11-E8D06F60D6D5}" type="presOf" srcId="{FE4B168C-D2A3-4D5A-8D75-A9C7877C2BF1}" destId="{FDF04786-77F5-48C4-B36E-762957E72ACC}" srcOrd="0" destOrd="0" presId="urn:microsoft.com/office/officeart/2005/8/layout/cycle1"/>
    <dgm:cxn modelId="{5D578496-AB05-440D-9346-E2D658610911}" srcId="{183D427C-BB34-4DB6-B21B-216AC4B210D1}" destId="{06358440-C5E1-4C55-A7D8-A0E72D9B26C8}" srcOrd="0" destOrd="0" parTransId="{4C66CE68-8345-412F-8192-66F91F163055}" sibTransId="{0C810493-6626-46AE-9874-2383F597A106}"/>
    <dgm:cxn modelId="{4D53289A-ED91-4923-8170-3CF8C0A8FEA6}" type="presOf" srcId="{183D427C-BB34-4DB6-B21B-216AC4B210D1}" destId="{FE633B13-04EE-4D5A-915C-40A650C7AE69}" srcOrd="0" destOrd="0" presId="urn:microsoft.com/office/officeart/2005/8/layout/cycle1"/>
    <dgm:cxn modelId="{BD822EAC-6B5C-4A7A-A788-C1AAFC3AB429}" type="presOf" srcId="{F172F792-B5C4-4A2B-8968-28656742AFAB}" destId="{FE633B13-04EE-4D5A-915C-40A650C7AE69}" srcOrd="0" destOrd="3" presId="urn:microsoft.com/office/officeart/2005/8/layout/cycle1"/>
    <dgm:cxn modelId="{6E4F18F7-8C92-4D39-80C3-617C2FB844FD}" type="presOf" srcId="{7EA083FB-D244-41EA-BD50-41ECF5468491}" destId="{FE633B13-04EE-4D5A-915C-40A650C7AE69}" srcOrd="0" destOrd="4" presId="urn:microsoft.com/office/officeart/2005/8/layout/cycle1"/>
    <dgm:cxn modelId="{D43AD2FF-36D0-4B05-8688-8FBA061A4882}" srcId="{183D427C-BB34-4DB6-B21B-216AC4B210D1}" destId="{ABD4B5EE-93FE-46EB-8311-4A17EB80A36D}" srcOrd="1" destOrd="0" parTransId="{DFAA311B-A2C8-4605-915B-A4B263500206}" sibTransId="{DC7AD732-5A40-433E-ADD3-0C83839A6F45}"/>
    <dgm:cxn modelId="{D68B3630-C5C6-4899-ACD6-1326FDECBCBD}" type="presParOf" srcId="{FDF04786-77F5-48C4-B36E-762957E72ACC}" destId="{FE633B13-04EE-4D5A-915C-40A650C7AE69}" srcOrd="0"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429AF4-6D5B-4F55-8629-C88F5201FE43}"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5158FB06-4F39-49AB-A4BD-C5B9534FF0A5}">
      <dgm:prSet/>
      <dgm:spPr/>
      <dgm:t>
        <a:bodyPr/>
        <a:lstStyle/>
        <a:p>
          <a:r>
            <a:rPr lang="en-US" b="1"/>
            <a:t>General Objective</a:t>
          </a:r>
          <a:endParaRPr lang="en-US"/>
        </a:p>
      </dgm:t>
    </dgm:pt>
    <dgm:pt modelId="{CE2FE11E-3F7A-44CC-93C2-649E8F5E1EA9}" type="parTrans" cxnId="{2B0A3F4E-1F5D-4E18-9123-C483149A27E8}">
      <dgm:prSet/>
      <dgm:spPr/>
      <dgm:t>
        <a:bodyPr/>
        <a:lstStyle/>
        <a:p>
          <a:endParaRPr lang="en-US"/>
        </a:p>
      </dgm:t>
    </dgm:pt>
    <dgm:pt modelId="{A40540A5-CE5E-4DFC-97C3-E8F65CF91263}" type="sibTrans" cxnId="{2B0A3F4E-1F5D-4E18-9123-C483149A27E8}">
      <dgm:prSet/>
      <dgm:spPr/>
      <dgm:t>
        <a:bodyPr/>
        <a:lstStyle/>
        <a:p>
          <a:endParaRPr lang="en-US"/>
        </a:p>
      </dgm:t>
    </dgm:pt>
    <dgm:pt modelId="{40F7C91F-41F0-4C1A-BAF9-3954F76D1C01}">
      <dgm:prSet/>
      <dgm:spPr/>
      <dgm:t>
        <a:bodyPr/>
        <a:lstStyle/>
        <a:p>
          <a:r>
            <a:rPr lang="en-US"/>
            <a:t>To analyze urban mobility patterns in Nairobi and develop a predictive data-driven model to identify, visualize, and propose mitigation strategies for chronic traffic bottlenecks.</a:t>
          </a:r>
        </a:p>
      </dgm:t>
    </dgm:pt>
    <dgm:pt modelId="{AB6BC7B6-BFCE-44B3-A960-B7B1C2CCF27A}" type="parTrans" cxnId="{701329C2-A0F3-4EAA-A5FF-D4E9468F0715}">
      <dgm:prSet/>
      <dgm:spPr/>
      <dgm:t>
        <a:bodyPr/>
        <a:lstStyle/>
        <a:p>
          <a:endParaRPr lang="en-US"/>
        </a:p>
      </dgm:t>
    </dgm:pt>
    <dgm:pt modelId="{C4BE73C5-9E2F-41F2-B1AB-A0E9D75A6B22}" type="sibTrans" cxnId="{701329C2-A0F3-4EAA-A5FF-D4E9468F0715}">
      <dgm:prSet/>
      <dgm:spPr/>
      <dgm:t>
        <a:bodyPr/>
        <a:lstStyle/>
        <a:p>
          <a:endParaRPr lang="en-US"/>
        </a:p>
      </dgm:t>
    </dgm:pt>
    <dgm:pt modelId="{F8F883D0-96D3-45AD-A517-8EE2700E0F52}">
      <dgm:prSet/>
      <dgm:spPr/>
      <dgm:t>
        <a:bodyPr/>
        <a:lstStyle/>
        <a:p>
          <a:r>
            <a:rPr lang="en-US" b="1"/>
            <a:t>Specific Objectives:</a:t>
          </a:r>
          <a:endParaRPr lang="en-US"/>
        </a:p>
      </dgm:t>
    </dgm:pt>
    <dgm:pt modelId="{41218650-68DA-42CF-9599-7ADBB25EE183}" type="parTrans" cxnId="{E11CAED9-42CA-466A-8455-7B45B0B74827}">
      <dgm:prSet/>
      <dgm:spPr/>
      <dgm:t>
        <a:bodyPr/>
        <a:lstStyle/>
        <a:p>
          <a:endParaRPr lang="en-US"/>
        </a:p>
      </dgm:t>
    </dgm:pt>
    <dgm:pt modelId="{EF8AD4C3-EDCC-4CFB-A073-73472B263BAF}" type="sibTrans" cxnId="{E11CAED9-42CA-466A-8455-7B45B0B74827}">
      <dgm:prSet/>
      <dgm:spPr/>
      <dgm:t>
        <a:bodyPr/>
        <a:lstStyle/>
        <a:p>
          <a:endParaRPr lang="en-US"/>
        </a:p>
      </dgm:t>
    </dgm:pt>
    <dgm:pt modelId="{4780B524-ADE4-4209-B6C3-41B7B6A0CE9F}">
      <dgm:prSet/>
      <dgm:spPr/>
      <dgm:t>
        <a:bodyPr/>
        <a:lstStyle/>
        <a:p>
          <a:r>
            <a:rPr lang="en-US"/>
            <a:t>To Map Density: To perform geospatial mapping of traffic density across Nairobi taxi zones using Geographic Information Systems (GIS) to identify high-congestion clusters.</a:t>
          </a:r>
        </a:p>
      </dgm:t>
    </dgm:pt>
    <dgm:pt modelId="{B2D319CF-76F4-4C7A-9AD3-1E9945B24456}" type="parTrans" cxnId="{2AA18C71-D49E-4F3A-B012-86C95186A6C4}">
      <dgm:prSet/>
      <dgm:spPr/>
      <dgm:t>
        <a:bodyPr/>
        <a:lstStyle/>
        <a:p>
          <a:endParaRPr lang="en-US"/>
        </a:p>
      </dgm:t>
    </dgm:pt>
    <dgm:pt modelId="{59A94CAE-541F-4403-8614-095A5CED9D1D}" type="sibTrans" cxnId="{2AA18C71-D49E-4F3A-B012-86C95186A6C4}">
      <dgm:prSet/>
      <dgm:spPr/>
      <dgm:t>
        <a:bodyPr/>
        <a:lstStyle/>
        <a:p>
          <a:endParaRPr lang="en-US"/>
        </a:p>
      </dgm:t>
    </dgm:pt>
    <dgm:pt modelId="{2A6FE058-9F36-4B20-B2F6-8917CAD1BDCC}">
      <dgm:prSet/>
      <dgm:spPr/>
      <dgm:t>
        <a:bodyPr/>
        <a:lstStyle/>
        <a:p>
          <a:r>
            <a:rPr lang="en-US"/>
            <a:t>To Analyze External Factors: To quantify the impact of specific weather events on traffic flow and ride-sharing demand through correlation analysis and hypothesis testing.</a:t>
          </a:r>
        </a:p>
      </dgm:t>
    </dgm:pt>
    <dgm:pt modelId="{C18941F2-B6A9-47F4-BE49-7704A276E38B}" type="parTrans" cxnId="{F7334614-FDD6-4A41-954A-1D93864ABB2C}">
      <dgm:prSet/>
      <dgm:spPr/>
      <dgm:t>
        <a:bodyPr/>
        <a:lstStyle/>
        <a:p>
          <a:endParaRPr lang="en-US"/>
        </a:p>
      </dgm:t>
    </dgm:pt>
    <dgm:pt modelId="{E14A041D-F763-41B0-B047-73EC139D2322}" type="sibTrans" cxnId="{F7334614-FDD6-4A41-954A-1D93864ABB2C}">
      <dgm:prSet/>
      <dgm:spPr/>
      <dgm:t>
        <a:bodyPr/>
        <a:lstStyle/>
        <a:p>
          <a:endParaRPr lang="en-US"/>
        </a:p>
      </dgm:t>
    </dgm:pt>
    <dgm:pt modelId="{FA3082C8-913B-4DCD-B002-4F701809E9A7}">
      <dgm:prSet/>
      <dgm:spPr/>
      <dgm:t>
        <a:bodyPr/>
        <a:lstStyle/>
        <a:p>
          <a:r>
            <a:rPr lang="en-US"/>
            <a:t>To Develop Predictive Models: To build and train a machine learning model (e.g., LSTM or Random Forest) to forecast traffic deviations with an accuracy of at least 85%.</a:t>
          </a:r>
        </a:p>
      </dgm:t>
    </dgm:pt>
    <dgm:pt modelId="{E19CA759-8D1C-4E57-AA50-6B5A1DEEA328}" type="parTrans" cxnId="{191DE401-3F2F-46BD-881B-7D0B8457C727}">
      <dgm:prSet/>
      <dgm:spPr/>
      <dgm:t>
        <a:bodyPr/>
        <a:lstStyle/>
        <a:p>
          <a:endParaRPr lang="en-US"/>
        </a:p>
      </dgm:t>
    </dgm:pt>
    <dgm:pt modelId="{7D04A713-F30B-44A7-B908-B93A86CF4E25}" type="sibTrans" cxnId="{191DE401-3F2F-46BD-881B-7D0B8457C727}">
      <dgm:prSet/>
      <dgm:spPr/>
      <dgm:t>
        <a:bodyPr/>
        <a:lstStyle/>
        <a:p>
          <a:endParaRPr lang="en-US"/>
        </a:p>
      </dgm:t>
    </dgm:pt>
    <dgm:pt modelId="{F32F2523-1500-4B9D-819F-0B6B6BF2030A}">
      <dgm:prSet/>
      <dgm:spPr/>
      <dgm:t>
        <a:bodyPr/>
        <a:lstStyle/>
        <a:p>
          <a:r>
            <a:rPr lang="en-US"/>
            <a:t>To Identify Infrastructure Gaps: To evaluate the relationship between ride-sharing demand peaks and public transport limitations to recommend dynamic optimization strategies.</a:t>
          </a:r>
        </a:p>
      </dgm:t>
    </dgm:pt>
    <dgm:pt modelId="{51CA4E4B-D9B0-4851-9DC0-2419FE9FA4B3}" type="parTrans" cxnId="{9DC35B5F-6B44-4308-B736-A85EC85CC634}">
      <dgm:prSet/>
      <dgm:spPr/>
      <dgm:t>
        <a:bodyPr/>
        <a:lstStyle/>
        <a:p>
          <a:endParaRPr lang="en-US"/>
        </a:p>
      </dgm:t>
    </dgm:pt>
    <dgm:pt modelId="{6F66528E-96DB-4738-BEAD-959935D9FF30}" type="sibTrans" cxnId="{9DC35B5F-6B44-4308-B736-A85EC85CC634}">
      <dgm:prSet/>
      <dgm:spPr/>
      <dgm:t>
        <a:bodyPr/>
        <a:lstStyle/>
        <a:p>
          <a:endParaRPr lang="en-US"/>
        </a:p>
      </dgm:t>
    </dgm:pt>
    <dgm:pt modelId="{9D8A6BB8-D1E1-4DB5-92FD-D2BCAE3D29AF}">
      <dgm:prSet/>
      <dgm:spPr/>
      <dgm:t>
        <a:bodyPr/>
        <a:lstStyle/>
        <a:p>
          <a:r>
            <a:rPr lang="en-US" b="1"/>
            <a:t>RESEARCH QUESTIONS</a:t>
          </a:r>
          <a:endParaRPr lang="en-US"/>
        </a:p>
      </dgm:t>
    </dgm:pt>
    <dgm:pt modelId="{F21914CC-83A4-43BA-A1FF-AEBE4620FC6A}" type="parTrans" cxnId="{24CA4814-B208-4F24-9B90-E113C06C1506}">
      <dgm:prSet/>
      <dgm:spPr/>
      <dgm:t>
        <a:bodyPr/>
        <a:lstStyle/>
        <a:p>
          <a:endParaRPr lang="en-US"/>
        </a:p>
      </dgm:t>
    </dgm:pt>
    <dgm:pt modelId="{8818B6E2-F0DD-4EB5-A164-1CBFB20530E7}" type="sibTrans" cxnId="{24CA4814-B208-4F24-9B90-E113C06C1506}">
      <dgm:prSet/>
      <dgm:spPr/>
      <dgm:t>
        <a:bodyPr/>
        <a:lstStyle/>
        <a:p>
          <a:endParaRPr lang="en-US"/>
        </a:p>
      </dgm:t>
    </dgm:pt>
    <dgm:pt modelId="{25020154-80E3-4B83-87E9-97FA7BE51E15}">
      <dgm:prSet/>
      <dgm:spPr/>
      <dgm:t>
        <a:bodyPr/>
        <a:lstStyle/>
        <a:p>
          <a:r>
            <a:rPr lang="en-US"/>
            <a:t>Geospatial Analysis: Which specific intersections and taxi zones in Nairobi constitute the primary bottlenecks during peak commuting hours (06:00–09:00 and 16:00–19:00)?</a:t>
          </a:r>
        </a:p>
      </dgm:t>
    </dgm:pt>
    <dgm:pt modelId="{7477661D-41ED-434F-9353-A398E15431A1}" type="parTrans" cxnId="{FDC89565-F87F-4155-8C1A-3CBEB35F1C53}">
      <dgm:prSet/>
      <dgm:spPr/>
      <dgm:t>
        <a:bodyPr/>
        <a:lstStyle/>
        <a:p>
          <a:endParaRPr lang="en-US"/>
        </a:p>
      </dgm:t>
    </dgm:pt>
    <dgm:pt modelId="{88047E38-1474-4859-9839-83CCA7870534}" type="sibTrans" cxnId="{FDC89565-F87F-4155-8C1A-3CBEB35F1C53}">
      <dgm:prSet/>
      <dgm:spPr/>
      <dgm:t>
        <a:bodyPr/>
        <a:lstStyle/>
        <a:p>
          <a:endParaRPr lang="en-US"/>
        </a:p>
      </dgm:t>
    </dgm:pt>
    <dgm:pt modelId="{92784770-F89C-41B9-8D55-095249B29BAF}">
      <dgm:prSet/>
      <dgm:spPr/>
      <dgm:t>
        <a:bodyPr/>
        <a:lstStyle/>
        <a:p>
          <a:r>
            <a:rPr lang="en-US"/>
            <a:t>Weather Impact: To what degree do extreme weather conditions (e.g., heavy rainfall) deviate traffic patterns and ride-sharing surge pricing compared to baseline clear-weather days? </a:t>
          </a:r>
        </a:p>
      </dgm:t>
    </dgm:pt>
    <dgm:pt modelId="{4D74A877-6E71-41E4-9B94-C8F7AC4D5B1E}" type="parTrans" cxnId="{9E8BC874-0F2F-47F3-B845-CCF0AFC25BFA}">
      <dgm:prSet/>
      <dgm:spPr/>
      <dgm:t>
        <a:bodyPr/>
        <a:lstStyle/>
        <a:p>
          <a:endParaRPr lang="en-US"/>
        </a:p>
      </dgm:t>
    </dgm:pt>
    <dgm:pt modelId="{FDD11630-ADFE-40C7-AF42-BF9FA8428E23}" type="sibTrans" cxnId="{9E8BC874-0F2F-47F3-B845-CCF0AFC25BFA}">
      <dgm:prSet/>
      <dgm:spPr/>
      <dgm:t>
        <a:bodyPr/>
        <a:lstStyle/>
        <a:p>
          <a:endParaRPr lang="en-US"/>
        </a:p>
      </dgm:t>
    </dgm:pt>
    <dgm:pt modelId="{67A407B2-F540-416F-9C73-1CE633C29166}">
      <dgm:prSet/>
      <dgm:spPr/>
      <dgm:t>
        <a:bodyPr/>
        <a:lstStyle/>
        <a:p>
          <a:r>
            <a:rPr lang="en-US" dirty="0"/>
            <a:t>Predictive Validity: How effectively can historical ride-sharing data be used to predict  demand in areas currently underserved by formal public transport infrastructure?</a:t>
          </a:r>
        </a:p>
      </dgm:t>
    </dgm:pt>
    <dgm:pt modelId="{CF5EE3C7-7B85-4183-A935-438EF9F9DAD4}" type="parTrans" cxnId="{5917616A-ED3A-4788-A7A8-E0A5DD1F9ED5}">
      <dgm:prSet/>
      <dgm:spPr/>
      <dgm:t>
        <a:bodyPr/>
        <a:lstStyle/>
        <a:p>
          <a:endParaRPr lang="en-US"/>
        </a:p>
      </dgm:t>
    </dgm:pt>
    <dgm:pt modelId="{0244EF82-10E4-4511-983E-CF650A44D3CC}" type="sibTrans" cxnId="{5917616A-ED3A-4788-A7A8-E0A5DD1F9ED5}">
      <dgm:prSet/>
      <dgm:spPr/>
      <dgm:t>
        <a:bodyPr/>
        <a:lstStyle/>
        <a:p>
          <a:endParaRPr lang="en-US"/>
        </a:p>
      </dgm:t>
    </dgm:pt>
    <dgm:pt modelId="{46954B57-0B36-4C04-98EE-D4AECA8EE40A}" type="pres">
      <dgm:prSet presAssocID="{24429AF4-6D5B-4F55-8629-C88F5201FE43}" presName="Name0" presStyleCnt="0">
        <dgm:presLayoutVars>
          <dgm:dir/>
          <dgm:resizeHandles val="exact"/>
        </dgm:presLayoutVars>
      </dgm:prSet>
      <dgm:spPr/>
    </dgm:pt>
    <dgm:pt modelId="{EF57EF6C-B7BC-46E0-B3B3-4F0786B53465}" type="pres">
      <dgm:prSet presAssocID="{5158FB06-4F39-49AB-A4BD-C5B9534FF0A5}" presName="node" presStyleLbl="node1" presStyleIdx="0" presStyleCnt="4">
        <dgm:presLayoutVars>
          <dgm:bulletEnabled val="1"/>
        </dgm:presLayoutVars>
      </dgm:prSet>
      <dgm:spPr/>
    </dgm:pt>
    <dgm:pt modelId="{9B90ED31-8218-4BF6-AA81-C27DCCC9C00A}" type="pres">
      <dgm:prSet presAssocID="{A40540A5-CE5E-4DFC-97C3-E8F65CF91263}" presName="sibTrans" presStyleLbl="sibTrans1D1" presStyleIdx="0" presStyleCnt="3"/>
      <dgm:spPr/>
    </dgm:pt>
    <dgm:pt modelId="{A5FE08C1-E51A-43CE-85E4-78E06D4D1E11}" type="pres">
      <dgm:prSet presAssocID="{A40540A5-CE5E-4DFC-97C3-E8F65CF91263}" presName="connectorText" presStyleLbl="sibTrans1D1" presStyleIdx="0" presStyleCnt="3"/>
      <dgm:spPr/>
    </dgm:pt>
    <dgm:pt modelId="{9CCCE139-4939-4311-B3AE-049FFC34FE17}" type="pres">
      <dgm:prSet presAssocID="{40F7C91F-41F0-4C1A-BAF9-3954F76D1C01}" presName="node" presStyleLbl="node1" presStyleIdx="1" presStyleCnt="4">
        <dgm:presLayoutVars>
          <dgm:bulletEnabled val="1"/>
        </dgm:presLayoutVars>
      </dgm:prSet>
      <dgm:spPr/>
    </dgm:pt>
    <dgm:pt modelId="{67D0197A-145A-47DA-B7CF-0A3CD4704C4A}" type="pres">
      <dgm:prSet presAssocID="{C4BE73C5-9E2F-41F2-B1AB-A0E9D75A6B22}" presName="sibTrans" presStyleLbl="sibTrans1D1" presStyleIdx="1" presStyleCnt="3"/>
      <dgm:spPr/>
    </dgm:pt>
    <dgm:pt modelId="{F90B5CC7-2422-4D91-8B03-364E5672783B}" type="pres">
      <dgm:prSet presAssocID="{C4BE73C5-9E2F-41F2-B1AB-A0E9D75A6B22}" presName="connectorText" presStyleLbl="sibTrans1D1" presStyleIdx="1" presStyleCnt="3"/>
      <dgm:spPr/>
    </dgm:pt>
    <dgm:pt modelId="{7A7D64F6-0A2F-41AD-B0E6-91DC47F3B97A}" type="pres">
      <dgm:prSet presAssocID="{F8F883D0-96D3-45AD-A517-8EE2700E0F52}" presName="node" presStyleLbl="node1" presStyleIdx="2" presStyleCnt="4">
        <dgm:presLayoutVars>
          <dgm:bulletEnabled val="1"/>
        </dgm:presLayoutVars>
      </dgm:prSet>
      <dgm:spPr/>
    </dgm:pt>
    <dgm:pt modelId="{CE4EBEC9-973B-4DC5-B626-EC1032798A86}" type="pres">
      <dgm:prSet presAssocID="{EF8AD4C3-EDCC-4CFB-A073-73472B263BAF}" presName="sibTrans" presStyleLbl="sibTrans1D1" presStyleIdx="2" presStyleCnt="3"/>
      <dgm:spPr/>
    </dgm:pt>
    <dgm:pt modelId="{500C1CCF-7037-48F0-96D1-EC8D056781AE}" type="pres">
      <dgm:prSet presAssocID="{EF8AD4C3-EDCC-4CFB-A073-73472B263BAF}" presName="connectorText" presStyleLbl="sibTrans1D1" presStyleIdx="2" presStyleCnt="3"/>
      <dgm:spPr/>
    </dgm:pt>
    <dgm:pt modelId="{FD50CCAA-FFC7-448F-A11D-3F09F70B09D0}" type="pres">
      <dgm:prSet presAssocID="{9D8A6BB8-D1E1-4DB5-92FD-D2BCAE3D29AF}" presName="node" presStyleLbl="node1" presStyleIdx="3" presStyleCnt="4">
        <dgm:presLayoutVars>
          <dgm:bulletEnabled val="1"/>
        </dgm:presLayoutVars>
      </dgm:prSet>
      <dgm:spPr/>
    </dgm:pt>
  </dgm:ptLst>
  <dgm:cxnLst>
    <dgm:cxn modelId="{B9D76700-3788-443F-8754-BC634B60EA5A}" type="presOf" srcId="{2A6FE058-9F36-4B20-B2F6-8917CAD1BDCC}" destId="{7A7D64F6-0A2F-41AD-B0E6-91DC47F3B97A}" srcOrd="0" destOrd="2" presId="urn:microsoft.com/office/officeart/2016/7/layout/RepeatingBendingProcessNew"/>
    <dgm:cxn modelId="{191DE401-3F2F-46BD-881B-7D0B8457C727}" srcId="{F8F883D0-96D3-45AD-A517-8EE2700E0F52}" destId="{FA3082C8-913B-4DCD-B002-4F701809E9A7}" srcOrd="2" destOrd="0" parTransId="{E19CA759-8D1C-4E57-AA50-6B5A1DEEA328}" sibTransId="{7D04A713-F30B-44A7-B908-B93A86CF4E25}"/>
    <dgm:cxn modelId="{F7334614-FDD6-4A41-954A-1D93864ABB2C}" srcId="{F8F883D0-96D3-45AD-A517-8EE2700E0F52}" destId="{2A6FE058-9F36-4B20-B2F6-8917CAD1BDCC}" srcOrd="1" destOrd="0" parTransId="{C18941F2-B6A9-47F4-BE49-7704A276E38B}" sibTransId="{E14A041D-F763-41B0-B047-73EC139D2322}"/>
    <dgm:cxn modelId="{24CA4814-B208-4F24-9B90-E113C06C1506}" srcId="{24429AF4-6D5B-4F55-8629-C88F5201FE43}" destId="{9D8A6BB8-D1E1-4DB5-92FD-D2BCAE3D29AF}" srcOrd="3" destOrd="0" parTransId="{F21914CC-83A4-43BA-A1FF-AEBE4620FC6A}" sibTransId="{8818B6E2-F0DD-4EB5-A164-1CBFB20530E7}"/>
    <dgm:cxn modelId="{D0E8CD2C-E2A7-41B8-A43E-51E9571F1742}" type="presOf" srcId="{A40540A5-CE5E-4DFC-97C3-E8F65CF91263}" destId="{A5FE08C1-E51A-43CE-85E4-78E06D4D1E11}" srcOrd="1" destOrd="0" presId="urn:microsoft.com/office/officeart/2016/7/layout/RepeatingBendingProcessNew"/>
    <dgm:cxn modelId="{E73C9936-2688-43EC-9F40-AE54A51C9509}" type="presOf" srcId="{EF8AD4C3-EDCC-4CFB-A073-73472B263BAF}" destId="{500C1CCF-7037-48F0-96D1-EC8D056781AE}" srcOrd="1" destOrd="0" presId="urn:microsoft.com/office/officeart/2016/7/layout/RepeatingBendingProcessNew"/>
    <dgm:cxn modelId="{9DC35B5F-6B44-4308-B736-A85EC85CC634}" srcId="{F8F883D0-96D3-45AD-A517-8EE2700E0F52}" destId="{F32F2523-1500-4B9D-819F-0B6B6BF2030A}" srcOrd="3" destOrd="0" parTransId="{51CA4E4B-D9B0-4851-9DC0-2419FE9FA4B3}" sibTransId="{6F66528E-96DB-4738-BEAD-959935D9FF30}"/>
    <dgm:cxn modelId="{7D1B2143-A70A-4C06-825F-B7F704AFF95E}" type="presOf" srcId="{F8F883D0-96D3-45AD-A517-8EE2700E0F52}" destId="{7A7D64F6-0A2F-41AD-B0E6-91DC47F3B97A}" srcOrd="0" destOrd="0" presId="urn:microsoft.com/office/officeart/2016/7/layout/RepeatingBendingProcessNew"/>
    <dgm:cxn modelId="{FDC89565-F87F-4155-8C1A-3CBEB35F1C53}" srcId="{9D8A6BB8-D1E1-4DB5-92FD-D2BCAE3D29AF}" destId="{25020154-80E3-4B83-87E9-97FA7BE51E15}" srcOrd="0" destOrd="0" parTransId="{7477661D-41ED-434F-9353-A398E15431A1}" sibTransId="{88047E38-1474-4859-9839-83CCA7870534}"/>
    <dgm:cxn modelId="{D1677046-F436-4411-BE25-78B9305A6B9F}" type="presOf" srcId="{F32F2523-1500-4B9D-819F-0B6B6BF2030A}" destId="{7A7D64F6-0A2F-41AD-B0E6-91DC47F3B97A}" srcOrd="0" destOrd="4" presId="urn:microsoft.com/office/officeart/2016/7/layout/RepeatingBendingProcessNew"/>
    <dgm:cxn modelId="{46845347-99C0-4000-BD70-500ED82CC129}" type="presOf" srcId="{92784770-F89C-41B9-8D55-095249B29BAF}" destId="{FD50CCAA-FFC7-448F-A11D-3F09F70B09D0}" srcOrd="0" destOrd="2" presId="urn:microsoft.com/office/officeart/2016/7/layout/RepeatingBendingProcessNew"/>
    <dgm:cxn modelId="{5917616A-ED3A-4788-A7A8-E0A5DD1F9ED5}" srcId="{9D8A6BB8-D1E1-4DB5-92FD-D2BCAE3D29AF}" destId="{67A407B2-F540-416F-9C73-1CE633C29166}" srcOrd="2" destOrd="0" parTransId="{CF5EE3C7-7B85-4183-A935-438EF9F9DAD4}" sibTransId="{0244EF82-10E4-4511-983E-CF650A44D3CC}"/>
    <dgm:cxn modelId="{2B0A3F4E-1F5D-4E18-9123-C483149A27E8}" srcId="{24429AF4-6D5B-4F55-8629-C88F5201FE43}" destId="{5158FB06-4F39-49AB-A4BD-C5B9534FF0A5}" srcOrd="0" destOrd="0" parTransId="{CE2FE11E-3F7A-44CC-93C2-649E8F5E1EA9}" sibTransId="{A40540A5-CE5E-4DFC-97C3-E8F65CF91263}"/>
    <dgm:cxn modelId="{AA46024F-7748-448F-88FE-C33028C29B20}" type="presOf" srcId="{4780B524-ADE4-4209-B6C3-41B7B6A0CE9F}" destId="{7A7D64F6-0A2F-41AD-B0E6-91DC47F3B97A}" srcOrd="0" destOrd="1" presId="urn:microsoft.com/office/officeart/2016/7/layout/RepeatingBendingProcessNew"/>
    <dgm:cxn modelId="{2AA18C71-D49E-4F3A-B012-86C95186A6C4}" srcId="{F8F883D0-96D3-45AD-A517-8EE2700E0F52}" destId="{4780B524-ADE4-4209-B6C3-41B7B6A0CE9F}" srcOrd="0" destOrd="0" parTransId="{B2D319CF-76F4-4C7A-9AD3-1E9945B24456}" sibTransId="{59A94CAE-541F-4403-8614-095A5CED9D1D}"/>
    <dgm:cxn modelId="{DD359771-5143-4CF7-9F64-DE4F05964B98}" type="presOf" srcId="{40F7C91F-41F0-4C1A-BAF9-3954F76D1C01}" destId="{9CCCE139-4939-4311-B3AE-049FFC34FE17}" srcOrd="0" destOrd="0" presId="urn:microsoft.com/office/officeart/2016/7/layout/RepeatingBendingProcessNew"/>
    <dgm:cxn modelId="{9E8BC874-0F2F-47F3-B845-CCF0AFC25BFA}" srcId="{9D8A6BB8-D1E1-4DB5-92FD-D2BCAE3D29AF}" destId="{92784770-F89C-41B9-8D55-095249B29BAF}" srcOrd="1" destOrd="0" parTransId="{4D74A877-6E71-41E4-9B94-C8F7AC4D5B1E}" sibTransId="{FDD11630-ADFE-40C7-AF42-BF9FA8428E23}"/>
    <dgm:cxn modelId="{3658957B-42B1-41F2-B8E5-6E92566CE2F4}" type="presOf" srcId="{C4BE73C5-9E2F-41F2-B1AB-A0E9D75A6B22}" destId="{F90B5CC7-2422-4D91-8B03-364E5672783B}" srcOrd="1" destOrd="0" presId="urn:microsoft.com/office/officeart/2016/7/layout/RepeatingBendingProcessNew"/>
    <dgm:cxn modelId="{2397BE96-D63A-4515-929E-B0322349F92D}" type="presOf" srcId="{5158FB06-4F39-49AB-A4BD-C5B9534FF0A5}" destId="{EF57EF6C-B7BC-46E0-B3B3-4F0786B53465}" srcOrd="0" destOrd="0" presId="urn:microsoft.com/office/officeart/2016/7/layout/RepeatingBendingProcessNew"/>
    <dgm:cxn modelId="{7BB9E897-28CF-4A42-8C87-AB0920190E1E}" type="presOf" srcId="{FA3082C8-913B-4DCD-B002-4F701809E9A7}" destId="{7A7D64F6-0A2F-41AD-B0E6-91DC47F3B97A}" srcOrd="0" destOrd="3" presId="urn:microsoft.com/office/officeart/2016/7/layout/RepeatingBendingProcessNew"/>
    <dgm:cxn modelId="{2F2A0399-C88F-4D4E-A750-822CF82ECFD0}" type="presOf" srcId="{24429AF4-6D5B-4F55-8629-C88F5201FE43}" destId="{46954B57-0B36-4C04-98EE-D4AECA8EE40A}" srcOrd="0" destOrd="0" presId="urn:microsoft.com/office/officeart/2016/7/layout/RepeatingBendingProcessNew"/>
    <dgm:cxn modelId="{3511F3AA-A892-44EA-AB76-652EF83063DA}" type="presOf" srcId="{A40540A5-CE5E-4DFC-97C3-E8F65CF91263}" destId="{9B90ED31-8218-4BF6-AA81-C27DCCC9C00A}" srcOrd="0" destOrd="0" presId="urn:microsoft.com/office/officeart/2016/7/layout/RepeatingBendingProcessNew"/>
    <dgm:cxn modelId="{701329C2-A0F3-4EAA-A5FF-D4E9468F0715}" srcId="{24429AF4-6D5B-4F55-8629-C88F5201FE43}" destId="{40F7C91F-41F0-4C1A-BAF9-3954F76D1C01}" srcOrd="1" destOrd="0" parTransId="{AB6BC7B6-BFCE-44B3-A960-B7B1C2CCF27A}" sibTransId="{C4BE73C5-9E2F-41F2-B1AB-A0E9D75A6B22}"/>
    <dgm:cxn modelId="{37AC09D0-64FF-4BA3-B2CE-75B6F20D8721}" type="presOf" srcId="{EF8AD4C3-EDCC-4CFB-A073-73472B263BAF}" destId="{CE4EBEC9-973B-4DC5-B626-EC1032798A86}" srcOrd="0" destOrd="0" presId="urn:microsoft.com/office/officeart/2016/7/layout/RepeatingBendingProcessNew"/>
    <dgm:cxn modelId="{670BC2D7-9CF7-4363-A5B2-64056EEB0C1A}" type="presOf" srcId="{67A407B2-F540-416F-9C73-1CE633C29166}" destId="{FD50CCAA-FFC7-448F-A11D-3F09F70B09D0}" srcOrd="0" destOrd="3" presId="urn:microsoft.com/office/officeart/2016/7/layout/RepeatingBendingProcessNew"/>
    <dgm:cxn modelId="{E11CAED9-42CA-466A-8455-7B45B0B74827}" srcId="{24429AF4-6D5B-4F55-8629-C88F5201FE43}" destId="{F8F883D0-96D3-45AD-A517-8EE2700E0F52}" srcOrd="2" destOrd="0" parTransId="{41218650-68DA-42CF-9599-7ADBB25EE183}" sibTransId="{EF8AD4C3-EDCC-4CFB-A073-73472B263BAF}"/>
    <dgm:cxn modelId="{B3509EE7-BC51-429D-B155-ED432C8C0B1D}" type="presOf" srcId="{C4BE73C5-9E2F-41F2-B1AB-A0E9D75A6B22}" destId="{67D0197A-145A-47DA-B7CF-0A3CD4704C4A}" srcOrd="0" destOrd="0" presId="urn:microsoft.com/office/officeart/2016/7/layout/RepeatingBendingProcessNew"/>
    <dgm:cxn modelId="{B43BE7E7-4BE2-4F19-B997-898DE09F8F4E}" type="presOf" srcId="{25020154-80E3-4B83-87E9-97FA7BE51E15}" destId="{FD50CCAA-FFC7-448F-A11D-3F09F70B09D0}" srcOrd="0" destOrd="1" presId="urn:microsoft.com/office/officeart/2016/7/layout/RepeatingBendingProcessNew"/>
    <dgm:cxn modelId="{FA4AC7FB-2722-4804-85E1-36A078B48BE9}" type="presOf" srcId="{9D8A6BB8-D1E1-4DB5-92FD-D2BCAE3D29AF}" destId="{FD50CCAA-FFC7-448F-A11D-3F09F70B09D0}" srcOrd="0" destOrd="0" presId="urn:microsoft.com/office/officeart/2016/7/layout/RepeatingBendingProcessNew"/>
    <dgm:cxn modelId="{CE76399D-11EA-4181-9F3A-72DFC9E6E3F2}" type="presParOf" srcId="{46954B57-0B36-4C04-98EE-D4AECA8EE40A}" destId="{EF57EF6C-B7BC-46E0-B3B3-4F0786B53465}" srcOrd="0" destOrd="0" presId="urn:microsoft.com/office/officeart/2016/7/layout/RepeatingBendingProcessNew"/>
    <dgm:cxn modelId="{0531EC29-DB74-4E2E-9B2D-33413D118174}" type="presParOf" srcId="{46954B57-0B36-4C04-98EE-D4AECA8EE40A}" destId="{9B90ED31-8218-4BF6-AA81-C27DCCC9C00A}" srcOrd="1" destOrd="0" presId="urn:microsoft.com/office/officeart/2016/7/layout/RepeatingBendingProcessNew"/>
    <dgm:cxn modelId="{89FBDA40-BC26-4CCD-8CB7-D67750A5C796}" type="presParOf" srcId="{9B90ED31-8218-4BF6-AA81-C27DCCC9C00A}" destId="{A5FE08C1-E51A-43CE-85E4-78E06D4D1E11}" srcOrd="0" destOrd="0" presId="urn:microsoft.com/office/officeart/2016/7/layout/RepeatingBendingProcessNew"/>
    <dgm:cxn modelId="{393032BA-815B-41DE-BCB1-187D71454339}" type="presParOf" srcId="{46954B57-0B36-4C04-98EE-D4AECA8EE40A}" destId="{9CCCE139-4939-4311-B3AE-049FFC34FE17}" srcOrd="2" destOrd="0" presId="urn:microsoft.com/office/officeart/2016/7/layout/RepeatingBendingProcessNew"/>
    <dgm:cxn modelId="{2D5F239D-EF55-42C5-8919-15C99EDA63BA}" type="presParOf" srcId="{46954B57-0B36-4C04-98EE-D4AECA8EE40A}" destId="{67D0197A-145A-47DA-B7CF-0A3CD4704C4A}" srcOrd="3" destOrd="0" presId="urn:microsoft.com/office/officeart/2016/7/layout/RepeatingBendingProcessNew"/>
    <dgm:cxn modelId="{BD65D660-E4C3-44DE-B28B-076291207392}" type="presParOf" srcId="{67D0197A-145A-47DA-B7CF-0A3CD4704C4A}" destId="{F90B5CC7-2422-4D91-8B03-364E5672783B}" srcOrd="0" destOrd="0" presId="urn:microsoft.com/office/officeart/2016/7/layout/RepeatingBendingProcessNew"/>
    <dgm:cxn modelId="{38138045-E586-4149-9E5A-2090A1415990}" type="presParOf" srcId="{46954B57-0B36-4C04-98EE-D4AECA8EE40A}" destId="{7A7D64F6-0A2F-41AD-B0E6-91DC47F3B97A}" srcOrd="4" destOrd="0" presId="urn:microsoft.com/office/officeart/2016/7/layout/RepeatingBendingProcessNew"/>
    <dgm:cxn modelId="{93FA6645-0B6F-4FD9-A278-A4412F458171}" type="presParOf" srcId="{46954B57-0B36-4C04-98EE-D4AECA8EE40A}" destId="{CE4EBEC9-973B-4DC5-B626-EC1032798A86}" srcOrd="5" destOrd="0" presId="urn:microsoft.com/office/officeart/2016/7/layout/RepeatingBendingProcessNew"/>
    <dgm:cxn modelId="{5E5C9068-E5B3-4C37-9611-0BBA673AFB52}" type="presParOf" srcId="{CE4EBEC9-973B-4DC5-B626-EC1032798A86}" destId="{500C1CCF-7037-48F0-96D1-EC8D056781AE}" srcOrd="0" destOrd="0" presId="urn:microsoft.com/office/officeart/2016/7/layout/RepeatingBendingProcessNew"/>
    <dgm:cxn modelId="{42C3951E-6358-46B0-BCE7-B4F35820CF50}" type="presParOf" srcId="{46954B57-0B36-4C04-98EE-D4AECA8EE40A}" destId="{FD50CCAA-FFC7-448F-A11D-3F09F70B09D0}" srcOrd="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0D1F88F-B164-411C-B0FA-BF65CEA3F848}"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858DBE0F-05F0-4F3D-BE53-049E34E9C2D6}">
      <dgm:prSet/>
      <dgm:spPr/>
      <dgm:t>
        <a:bodyPr/>
        <a:lstStyle/>
        <a:p>
          <a:r>
            <a:rPr lang="en-US" b="1"/>
            <a:t>3.1 METHODOLOGY</a:t>
          </a:r>
          <a:endParaRPr lang="en-US"/>
        </a:p>
      </dgm:t>
    </dgm:pt>
    <dgm:pt modelId="{CBEAAD12-AC40-4C2E-A37C-9DF0F1458154}" type="parTrans" cxnId="{2D046324-9D33-4A43-9AB0-8B5AA666AB44}">
      <dgm:prSet/>
      <dgm:spPr/>
      <dgm:t>
        <a:bodyPr/>
        <a:lstStyle/>
        <a:p>
          <a:endParaRPr lang="en-US"/>
        </a:p>
      </dgm:t>
    </dgm:pt>
    <dgm:pt modelId="{1195AE92-6B21-4AAD-B01D-2DBA9E0E4AD4}" type="sibTrans" cxnId="{2D046324-9D33-4A43-9AB0-8B5AA666AB44}">
      <dgm:prSet/>
      <dgm:spPr/>
      <dgm:t>
        <a:bodyPr/>
        <a:lstStyle/>
        <a:p>
          <a:endParaRPr lang="en-US"/>
        </a:p>
      </dgm:t>
    </dgm:pt>
    <dgm:pt modelId="{2A3137CD-7B5E-4307-AE31-3FDE046173AC}">
      <dgm:prSet/>
      <dgm:spPr/>
      <dgm:t>
        <a:bodyPr/>
        <a:lstStyle/>
        <a:p>
          <a:r>
            <a:rPr lang="en-US"/>
            <a:t>The project will follow the </a:t>
          </a:r>
          <a:r>
            <a:rPr lang="en-US" b="1"/>
            <a:t>CRISP-DM</a:t>
          </a:r>
          <a:r>
            <a:rPr lang="en-US"/>
            <a:t> methodology, ensuring a structured approach from data collection to system evaluation.</a:t>
          </a:r>
        </a:p>
      </dgm:t>
    </dgm:pt>
    <dgm:pt modelId="{D0E281F0-3653-4D41-8C1A-83DAFFE2854D}" type="parTrans" cxnId="{555BC444-3A6B-4183-B2F4-12BB41381273}">
      <dgm:prSet/>
      <dgm:spPr/>
      <dgm:t>
        <a:bodyPr/>
        <a:lstStyle/>
        <a:p>
          <a:endParaRPr lang="en-US"/>
        </a:p>
      </dgm:t>
    </dgm:pt>
    <dgm:pt modelId="{305130FF-4F37-4A6D-BF83-825B01F78473}" type="sibTrans" cxnId="{555BC444-3A6B-4183-B2F4-12BB41381273}">
      <dgm:prSet/>
      <dgm:spPr/>
      <dgm:t>
        <a:bodyPr/>
        <a:lstStyle/>
        <a:p>
          <a:endParaRPr lang="en-US"/>
        </a:p>
      </dgm:t>
    </dgm:pt>
    <dgm:pt modelId="{75AF25AC-A4E5-40F1-896B-6D9A1A6C91CB}">
      <dgm:prSet/>
      <dgm:spPr/>
      <dgm:t>
        <a:bodyPr/>
        <a:lstStyle/>
        <a:p>
          <a:r>
            <a:rPr lang="en-US"/>
            <a:t>1. Business Understanding -defining the problem from a research and planning perspective.</a:t>
          </a:r>
        </a:p>
      </dgm:t>
    </dgm:pt>
    <dgm:pt modelId="{10DDDF17-3DB0-4BF4-92FA-727293A10E59}" type="parTrans" cxnId="{3330D1D6-97EA-4E8E-96CA-95389839F70F}">
      <dgm:prSet/>
      <dgm:spPr/>
      <dgm:t>
        <a:bodyPr/>
        <a:lstStyle/>
        <a:p>
          <a:endParaRPr lang="en-US"/>
        </a:p>
      </dgm:t>
    </dgm:pt>
    <dgm:pt modelId="{AAF57D9B-3DF2-4ACE-A03D-723ADB01D34D}" type="sibTrans" cxnId="{3330D1D6-97EA-4E8E-96CA-95389839F70F}">
      <dgm:prSet/>
      <dgm:spPr/>
      <dgm:t>
        <a:bodyPr/>
        <a:lstStyle/>
        <a:p>
          <a:endParaRPr lang="en-US"/>
        </a:p>
      </dgm:t>
    </dgm:pt>
    <dgm:pt modelId="{E7F36D67-5D07-4711-B793-662E9CCB6F94}">
      <dgm:prSet/>
      <dgm:spPr/>
      <dgm:t>
        <a:bodyPr/>
        <a:lstStyle/>
        <a:p>
          <a:r>
            <a:rPr lang="en-US"/>
            <a:t>2. Data Understanding - assess raw data’s  quality and initial patterns.</a:t>
          </a:r>
        </a:p>
      </dgm:t>
    </dgm:pt>
    <dgm:pt modelId="{4EE3861D-C32C-4359-96FA-6247EA4C8066}" type="parTrans" cxnId="{5586F7C2-BBCD-40E3-8D81-CA7E0572D6CA}">
      <dgm:prSet/>
      <dgm:spPr/>
      <dgm:t>
        <a:bodyPr/>
        <a:lstStyle/>
        <a:p>
          <a:endParaRPr lang="en-US"/>
        </a:p>
      </dgm:t>
    </dgm:pt>
    <dgm:pt modelId="{30C0EDDF-123B-4AED-9DC3-00C999787077}" type="sibTrans" cxnId="{5586F7C2-BBCD-40E3-8D81-CA7E0572D6CA}">
      <dgm:prSet/>
      <dgm:spPr/>
      <dgm:t>
        <a:bodyPr/>
        <a:lstStyle/>
        <a:p>
          <a:endParaRPr lang="en-US"/>
        </a:p>
      </dgm:t>
    </dgm:pt>
    <dgm:pt modelId="{D4B6EBB0-D054-4B84-A790-C3FCFB4ED9E6}">
      <dgm:prSet/>
      <dgm:spPr/>
      <dgm:t>
        <a:bodyPr/>
        <a:lstStyle/>
        <a:p>
          <a:r>
            <a:rPr lang="en-US"/>
            <a:t>3. Data Preparation -transforms raw data into a format suitable for modeling.</a:t>
          </a:r>
        </a:p>
      </dgm:t>
    </dgm:pt>
    <dgm:pt modelId="{CB0A9B39-A4F5-495A-B791-3C9F8B0B0DB4}" type="parTrans" cxnId="{FC8C0DBC-3F31-46EC-B055-70741702A942}">
      <dgm:prSet/>
      <dgm:spPr/>
      <dgm:t>
        <a:bodyPr/>
        <a:lstStyle/>
        <a:p>
          <a:endParaRPr lang="en-US"/>
        </a:p>
      </dgm:t>
    </dgm:pt>
    <dgm:pt modelId="{84B88D28-9CEE-4F7F-9242-D0AD29473CC0}" type="sibTrans" cxnId="{FC8C0DBC-3F31-46EC-B055-70741702A942}">
      <dgm:prSet/>
      <dgm:spPr/>
      <dgm:t>
        <a:bodyPr/>
        <a:lstStyle/>
        <a:p>
          <a:endParaRPr lang="en-US"/>
        </a:p>
      </dgm:t>
    </dgm:pt>
    <dgm:pt modelId="{9463564A-4916-4516-B69E-10EA3A06299B}">
      <dgm:prSet/>
      <dgm:spPr/>
      <dgm:t>
        <a:bodyPr/>
        <a:lstStyle/>
        <a:p>
          <a:r>
            <a:rPr lang="en-US"/>
            <a:t>4. Modeling -apply mathematical algorithms to my cleaned dataset.</a:t>
          </a:r>
        </a:p>
      </dgm:t>
    </dgm:pt>
    <dgm:pt modelId="{940C10A9-42AC-4190-BC2D-22403A0CEE67}" type="parTrans" cxnId="{E7D21384-9421-4891-BD97-A4E4333A3116}">
      <dgm:prSet/>
      <dgm:spPr/>
      <dgm:t>
        <a:bodyPr/>
        <a:lstStyle/>
        <a:p>
          <a:endParaRPr lang="en-US"/>
        </a:p>
      </dgm:t>
    </dgm:pt>
    <dgm:pt modelId="{0982F15C-35C8-4190-8D18-5E81C372028B}" type="sibTrans" cxnId="{E7D21384-9421-4891-BD97-A4E4333A3116}">
      <dgm:prSet/>
      <dgm:spPr/>
      <dgm:t>
        <a:bodyPr/>
        <a:lstStyle/>
        <a:p>
          <a:endParaRPr lang="en-US"/>
        </a:p>
      </dgm:t>
    </dgm:pt>
    <dgm:pt modelId="{FFAB76EC-B278-470A-80EC-C1A2B129886D}">
      <dgm:prSet/>
      <dgm:spPr/>
      <dgm:t>
        <a:bodyPr/>
        <a:lstStyle/>
        <a:p>
          <a:r>
            <a:rPr lang="en-US"/>
            <a:t>5. Evaluation -if the model truly meets my project's objectives.</a:t>
          </a:r>
        </a:p>
      </dgm:t>
    </dgm:pt>
    <dgm:pt modelId="{82ED7D7E-0014-43A8-99CB-739A3CD8D91D}" type="parTrans" cxnId="{010FEA0B-E8A6-4F58-B98D-11AB3D5AD8FF}">
      <dgm:prSet/>
      <dgm:spPr/>
      <dgm:t>
        <a:bodyPr/>
        <a:lstStyle/>
        <a:p>
          <a:endParaRPr lang="en-US"/>
        </a:p>
      </dgm:t>
    </dgm:pt>
    <dgm:pt modelId="{E85D4851-87CC-4AF5-A0DC-720584C63733}" type="sibTrans" cxnId="{010FEA0B-E8A6-4F58-B98D-11AB3D5AD8FF}">
      <dgm:prSet/>
      <dgm:spPr/>
      <dgm:t>
        <a:bodyPr/>
        <a:lstStyle/>
        <a:p>
          <a:endParaRPr lang="en-US"/>
        </a:p>
      </dgm:t>
    </dgm:pt>
    <dgm:pt modelId="{C2A6D02E-BA69-4551-9BAD-D7963CBC1C15}">
      <dgm:prSet/>
      <dgm:spPr/>
      <dgm:t>
        <a:bodyPr/>
        <a:lstStyle/>
        <a:p>
          <a:r>
            <a:rPr lang="en-US"/>
            <a:t>6. Deployment -putting my  findings into a usable format.</a:t>
          </a:r>
        </a:p>
      </dgm:t>
    </dgm:pt>
    <dgm:pt modelId="{2F9225EC-CD90-41F8-842F-855825EE4FA7}" type="parTrans" cxnId="{1B4D160F-E2F9-4315-B74E-163680F5269B}">
      <dgm:prSet/>
      <dgm:spPr/>
      <dgm:t>
        <a:bodyPr/>
        <a:lstStyle/>
        <a:p>
          <a:endParaRPr lang="en-US"/>
        </a:p>
      </dgm:t>
    </dgm:pt>
    <dgm:pt modelId="{AB1A9373-FFC8-4440-880A-7ED325548053}" type="sibTrans" cxnId="{1B4D160F-E2F9-4315-B74E-163680F5269B}">
      <dgm:prSet/>
      <dgm:spPr/>
      <dgm:t>
        <a:bodyPr/>
        <a:lstStyle/>
        <a:p>
          <a:endParaRPr lang="en-US"/>
        </a:p>
      </dgm:t>
    </dgm:pt>
    <dgm:pt modelId="{041EE31D-5947-4DD3-BC05-A15BAA94DBD4}">
      <dgm:prSet/>
      <dgm:spPr/>
      <dgm:t>
        <a:bodyPr/>
        <a:lstStyle/>
        <a:p>
          <a:r>
            <a:rPr lang="en-US" b="1"/>
            <a:t>MODELS FOR ANALYSIS</a:t>
          </a:r>
          <a:endParaRPr lang="en-US"/>
        </a:p>
      </dgm:t>
    </dgm:pt>
    <dgm:pt modelId="{C7736E73-F0F4-447C-867B-D9189E6BA33B}" type="parTrans" cxnId="{44D9E0FD-3E91-469C-9E72-6228875CE2C2}">
      <dgm:prSet/>
      <dgm:spPr/>
      <dgm:t>
        <a:bodyPr/>
        <a:lstStyle/>
        <a:p>
          <a:endParaRPr lang="en-US"/>
        </a:p>
      </dgm:t>
    </dgm:pt>
    <dgm:pt modelId="{51D21A6D-EBF8-45FC-B8E6-1D47C0C1FDFE}" type="sibTrans" cxnId="{44D9E0FD-3E91-469C-9E72-6228875CE2C2}">
      <dgm:prSet/>
      <dgm:spPr/>
      <dgm:t>
        <a:bodyPr/>
        <a:lstStyle/>
        <a:p>
          <a:endParaRPr lang="en-US"/>
        </a:p>
      </dgm:t>
    </dgm:pt>
    <dgm:pt modelId="{4F4FA9A9-03D0-4667-91FE-43BD9D3358E4}">
      <dgm:prSet/>
      <dgm:spPr/>
      <dgm:t>
        <a:bodyPr/>
        <a:lstStyle/>
        <a:p>
          <a:r>
            <a:rPr lang="en-US" b="1"/>
            <a:t>LSTM (Long Short-Term Memory):</a:t>
          </a:r>
          <a:r>
            <a:rPr lang="en-US"/>
            <a:t> To handle the time-series nature of traffic flow, predicting future congestion based on historical sequences.</a:t>
          </a:r>
        </a:p>
      </dgm:t>
    </dgm:pt>
    <dgm:pt modelId="{12235530-BDF8-4A9E-9F75-01C26C6054D1}" type="parTrans" cxnId="{F2A7CAE2-7F74-4DB5-8214-12CD18C10426}">
      <dgm:prSet/>
      <dgm:spPr/>
      <dgm:t>
        <a:bodyPr/>
        <a:lstStyle/>
        <a:p>
          <a:endParaRPr lang="en-US"/>
        </a:p>
      </dgm:t>
    </dgm:pt>
    <dgm:pt modelId="{9B52331B-4E0D-407C-B072-159D542962A5}" type="sibTrans" cxnId="{F2A7CAE2-7F74-4DB5-8214-12CD18C10426}">
      <dgm:prSet/>
      <dgm:spPr/>
      <dgm:t>
        <a:bodyPr/>
        <a:lstStyle/>
        <a:p>
          <a:endParaRPr lang="en-US"/>
        </a:p>
      </dgm:t>
    </dgm:pt>
    <dgm:pt modelId="{59D4FB24-2B5F-4B02-9A23-981F444B7465}">
      <dgm:prSet/>
      <dgm:spPr/>
      <dgm:t>
        <a:bodyPr/>
        <a:lstStyle/>
        <a:p>
          <a:r>
            <a:rPr lang="en-US" b="1"/>
            <a:t>Random Forest Regressor:</a:t>
          </a:r>
          <a:r>
            <a:rPr lang="en-US"/>
            <a:t> To test my hypothesis regarding weather; this model is excellent for determining the feature importance of variables like rainfall and temperature on traffic speed.</a:t>
          </a:r>
        </a:p>
      </dgm:t>
    </dgm:pt>
    <dgm:pt modelId="{65791D5C-A6EC-4A80-87E3-FAC81BEFD608}" type="parTrans" cxnId="{8CEC8080-4007-4A1C-9425-F79FA1E26FD9}">
      <dgm:prSet/>
      <dgm:spPr/>
      <dgm:t>
        <a:bodyPr/>
        <a:lstStyle/>
        <a:p>
          <a:endParaRPr lang="en-US"/>
        </a:p>
      </dgm:t>
    </dgm:pt>
    <dgm:pt modelId="{86F515F6-ADD2-4EAE-86D3-C4716396A875}" type="sibTrans" cxnId="{8CEC8080-4007-4A1C-9425-F79FA1E26FD9}">
      <dgm:prSet/>
      <dgm:spPr/>
      <dgm:t>
        <a:bodyPr/>
        <a:lstStyle/>
        <a:p>
          <a:endParaRPr lang="en-US"/>
        </a:p>
      </dgm:t>
    </dgm:pt>
    <dgm:pt modelId="{31AA7191-2E5D-47C5-964B-CF7A6C35DE31}">
      <dgm:prSet/>
      <dgm:spPr/>
      <dgm:t>
        <a:bodyPr/>
        <a:lstStyle/>
        <a:p>
          <a:r>
            <a:rPr lang="en-US" b="1"/>
            <a:t>K-Means Clustering:</a:t>
          </a:r>
          <a:r>
            <a:rPr lang="en-US"/>
            <a:t> To segment Nairobi into "mobility zones" based on taxi pick-up/drop-off density.</a:t>
          </a:r>
        </a:p>
      </dgm:t>
    </dgm:pt>
    <dgm:pt modelId="{E9EE6862-9764-489C-9FAA-5DCF30C7A179}" type="parTrans" cxnId="{78080F6D-BC4B-4BB6-99D0-862D48B48B79}">
      <dgm:prSet/>
      <dgm:spPr/>
      <dgm:t>
        <a:bodyPr/>
        <a:lstStyle/>
        <a:p>
          <a:endParaRPr lang="en-US"/>
        </a:p>
      </dgm:t>
    </dgm:pt>
    <dgm:pt modelId="{A2692786-D891-4E72-B0A2-879066919693}" type="sibTrans" cxnId="{78080F6D-BC4B-4BB6-99D0-862D48B48B79}">
      <dgm:prSet/>
      <dgm:spPr/>
      <dgm:t>
        <a:bodyPr/>
        <a:lstStyle/>
        <a:p>
          <a:endParaRPr lang="en-US"/>
        </a:p>
      </dgm:t>
    </dgm:pt>
    <dgm:pt modelId="{38981A66-7806-4315-B9E7-C01A9A21566B}">
      <dgm:prSet/>
      <dgm:spPr/>
      <dgm:t>
        <a:bodyPr/>
        <a:lstStyle/>
        <a:p>
          <a:r>
            <a:rPr lang="en-US" b="1"/>
            <a:t>TOOLS &amp; TECHNOLOGIES</a:t>
          </a:r>
          <a:endParaRPr lang="en-US"/>
        </a:p>
      </dgm:t>
    </dgm:pt>
    <dgm:pt modelId="{CF0DA25D-CDB3-4DDF-A97F-AED9D96F72D0}" type="parTrans" cxnId="{2C319B88-69D0-400A-81B6-3B5C91D3D309}">
      <dgm:prSet/>
      <dgm:spPr/>
      <dgm:t>
        <a:bodyPr/>
        <a:lstStyle/>
        <a:p>
          <a:endParaRPr lang="en-US"/>
        </a:p>
      </dgm:t>
    </dgm:pt>
    <dgm:pt modelId="{AF2B4A1E-F2CF-4CF0-B2FC-626B3DC40989}" type="sibTrans" cxnId="{2C319B88-69D0-400A-81B6-3B5C91D3D309}">
      <dgm:prSet/>
      <dgm:spPr/>
      <dgm:t>
        <a:bodyPr/>
        <a:lstStyle/>
        <a:p>
          <a:endParaRPr lang="en-US"/>
        </a:p>
      </dgm:t>
    </dgm:pt>
    <dgm:pt modelId="{B3B9EB6B-0B55-4298-85D8-36C262B802AF}">
      <dgm:prSet/>
      <dgm:spPr/>
      <dgm:t>
        <a:bodyPr/>
        <a:lstStyle/>
        <a:p>
          <a:r>
            <a:rPr lang="en-US" dirty="0"/>
            <a:t>Data Sources: Taxi Movement (Nairobi), city specific open data portals(Nairobi).</a:t>
          </a:r>
        </a:p>
      </dgm:t>
    </dgm:pt>
    <dgm:pt modelId="{09B94D55-0E3A-4E92-B210-C6043BADEC17}" type="parTrans" cxnId="{4E5FDE00-FA19-4F3F-B586-C00F20FA1BFA}">
      <dgm:prSet/>
      <dgm:spPr/>
      <dgm:t>
        <a:bodyPr/>
        <a:lstStyle/>
        <a:p>
          <a:endParaRPr lang="en-US"/>
        </a:p>
      </dgm:t>
    </dgm:pt>
    <dgm:pt modelId="{81126DEF-36C7-419A-AE4D-3FD757C50E3A}" type="sibTrans" cxnId="{4E5FDE00-FA19-4F3F-B586-C00F20FA1BFA}">
      <dgm:prSet/>
      <dgm:spPr/>
      <dgm:t>
        <a:bodyPr/>
        <a:lstStyle/>
        <a:p>
          <a:endParaRPr lang="en-US"/>
        </a:p>
      </dgm:t>
    </dgm:pt>
    <dgm:pt modelId="{E3C8D472-F3C8-41DE-88AE-825C8EA3493F}">
      <dgm:prSet/>
      <dgm:spPr/>
      <dgm:t>
        <a:bodyPr/>
        <a:lstStyle/>
        <a:p>
          <a:r>
            <a:rPr lang="en-US"/>
            <a:t>Libraries: Scikit-learn (Modeling), GeoPandas (Spatial analysis and mapping), Matplotlib/Seaborn (Visualization).</a:t>
          </a:r>
        </a:p>
      </dgm:t>
    </dgm:pt>
    <dgm:pt modelId="{F0029002-3711-4110-8AB0-85384B450D29}" type="parTrans" cxnId="{37FE43A3-3550-453C-A5CA-22681DB6F9E4}">
      <dgm:prSet/>
      <dgm:spPr/>
      <dgm:t>
        <a:bodyPr/>
        <a:lstStyle/>
        <a:p>
          <a:endParaRPr lang="en-US"/>
        </a:p>
      </dgm:t>
    </dgm:pt>
    <dgm:pt modelId="{238B834A-BFBF-4921-BDF0-AAA2B2A098C3}" type="sibTrans" cxnId="{37FE43A3-3550-453C-A5CA-22681DB6F9E4}">
      <dgm:prSet/>
      <dgm:spPr/>
      <dgm:t>
        <a:bodyPr/>
        <a:lstStyle/>
        <a:p>
          <a:endParaRPr lang="en-US"/>
        </a:p>
      </dgm:t>
    </dgm:pt>
    <dgm:pt modelId="{1FACB3C4-2BD5-4621-B179-E6EBF2BD0F89}">
      <dgm:prSet/>
      <dgm:spPr/>
      <dgm:t>
        <a:bodyPr/>
        <a:lstStyle/>
        <a:p>
          <a:r>
            <a:rPr lang="en-US"/>
            <a:t>Visualization: Interactive maps and dashboards.</a:t>
          </a:r>
        </a:p>
      </dgm:t>
    </dgm:pt>
    <dgm:pt modelId="{A1A08F84-92F8-4819-AD1F-C0698D2BFFB6}" type="parTrans" cxnId="{94DDDBC0-5AA2-47FF-98F4-3CE622AE05A4}">
      <dgm:prSet/>
      <dgm:spPr/>
      <dgm:t>
        <a:bodyPr/>
        <a:lstStyle/>
        <a:p>
          <a:endParaRPr lang="en-US"/>
        </a:p>
      </dgm:t>
    </dgm:pt>
    <dgm:pt modelId="{6A222168-2D2E-4F4F-8B2A-4FDBDA08C3E8}" type="sibTrans" cxnId="{94DDDBC0-5AA2-47FF-98F4-3CE622AE05A4}">
      <dgm:prSet/>
      <dgm:spPr/>
      <dgm:t>
        <a:bodyPr/>
        <a:lstStyle/>
        <a:p>
          <a:endParaRPr lang="en-US"/>
        </a:p>
      </dgm:t>
    </dgm:pt>
    <dgm:pt modelId="{12613560-C39C-4C59-A9DC-DF13D1448FAA}" type="pres">
      <dgm:prSet presAssocID="{20D1F88F-B164-411C-B0FA-BF65CEA3F848}" presName="Name0" presStyleCnt="0">
        <dgm:presLayoutVars>
          <dgm:dir/>
          <dgm:resizeHandles val="exact"/>
        </dgm:presLayoutVars>
      </dgm:prSet>
      <dgm:spPr/>
    </dgm:pt>
    <dgm:pt modelId="{ED3C4540-80FB-4397-832E-EA9D1FFB1DD4}" type="pres">
      <dgm:prSet presAssocID="{858DBE0F-05F0-4F3D-BE53-049E34E9C2D6}" presName="node" presStyleLbl="node1" presStyleIdx="0" presStyleCnt="16">
        <dgm:presLayoutVars>
          <dgm:bulletEnabled val="1"/>
        </dgm:presLayoutVars>
      </dgm:prSet>
      <dgm:spPr/>
    </dgm:pt>
    <dgm:pt modelId="{680DEF66-61FC-4BC5-84EC-B09737D60989}" type="pres">
      <dgm:prSet presAssocID="{1195AE92-6B21-4AAD-B01D-2DBA9E0E4AD4}" presName="sibTrans" presStyleLbl="sibTrans1D1" presStyleIdx="0" presStyleCnt="15"/>
      <dgm:spPr/>
    </dgm:pt>
    <dgm:pt modelId="{6B017E31-A9DF-4E08-A60E-46C10B6D05E7}" type="pres">
      <dgm:prSet presAssocID="{1195AE92-6B21-4AAD-B01D-2DBA9E0E4AD4}" presName="connectorText" presStyleLbl="sibTrans1D1" presStyleIdx="0" presStyleCnt="15"/>
      <dgm:spPr/>
    </dgm:pt>
    <dgm:pt modelId="{BD2C73BB-89A0-4F0E-A6EE-F4A8BD6E5F22}" type="pres">
      <dgm:prSet presAssocID="{2A3137CD-7B5E-4307-AE31-3FDE046173AC}" presName="node" presStyleLbl="node1" presStyleIdx="1" presStyleCnt="16">
        <dgm:presLayoutVars>
          <dgm:bulletEnabled val="1"/>
        </dgm:presLayoutVars>
      </dgm:prSet>
      <dgm:spPr/>
    </dgm:pt>
    <dgm:pt modelId="{95590387-7B9B-4C4C-BCD9-E3AFA8A0E64B}" type="pres">
      <dgm:prSet presAssocID="{305130FF-4F37-4A6D-BF83-825B01F78473}" presName="sibTrans" presStyleLbl="sibTrans1D1" presStyleIdx="1" presStyleCnt="15"/>
      <dgm:spPr/>
    </dgm:pt>
    <dgm:pt modelId="{4F05B03E-4259-492B-B83A-BD160758E882}" type="pres">
      <dgm:prSet presAssocID="{305130FF-4F37-4A6D-BF83-825B01F78473}" presName="connectorText" presStyleLbl="sibTrans1D1" presStyleIdx="1" presStyleCnt="15"/>
      <dgm:spPr/>
    </dgm:pt>
    <dgm:pt modelId="{6595D8A8-543E-4E58-8326-333EB16A54AF}" type="pres">
      <dgm:prSet presAssocID="{75AF25AC-A4E5-40F1-896B-6D9A1A6C91CB}" presName="node" presStyleLbl="node1" presStyleIdx="2" presStyleCnt="16">
        <dgm:presLayoutVars>
          <dgm:bulletEnabled val="1"/>
        </dgm:presLayoutVars>
      </dgm:prSet>
      <dgm:spPr/>
    </dgm:pt>
    <dgm:pt modelId="{1D2EA8DC-6C65-4DB8-994E-116FDCE3914C}" type="pres">
      <dgm:prSet presAssocID="{AAF57D9B-3DF2-4ACE-A03D-723ADB01D34D}" presName="sibTrans" presStyleLbl="sibTrans1D1" presStyleIdx="2" presStyleCnt="15"/>
      <dgm:spPr/>
    </dgm:pt>
    <dgm:pt modelId="{6F4B77CB-26EF-4A5A-9D44-550EDBC492E9}" type="pres">
      <dgm:prSet presAssocID="{AAF57D9B-3DF2-4ACE-A03D-723ADB01D34D}" presName="connectorText" presStyleLbl="sibTrans1D1" presStyleIdx="2" presStyleCnt="15"/>
      <dgm:spPr/>
    </dgm:pt>
    <dgm:pt modelId="{FF94D84A-33CF-4C9F-9B62-EB10BEF5C996}" type="pres">
      <dgm:prSet presAssocID="{E7F36D67-5D07-4711-B793-662E9CCB6F94}" presName="node" presStyleLbl="node1" presStyleIdx="3" presStyleCnt="16">
        <dgm:presLayoutVars>
          <dgm:bulletEnabled val="1"/>
        </dgm:presLayoutVars>
      </dgm:prSet>
      <dgm:spPr/>
    </dgm:pt>
    <dgm:pt modelId="{5334348F-3F22-49F0-941C-B53608985137}" type="pres">
      <dgm:prSet presAssocID="{30C0EDDF-123B-4AED-9DC3-00C999787077}" presName="sibTrans" presStyleLbl="sibTrans1D1" presStyleIdx="3" presStyleCnt="15"/>
      <dgm:spPr/>
    </dgm:pt>
    <dgm:pt modelId="{0B4945D9-439C-4218-95DF-6074E7A025FA}" type="pres">
      <dgm:prSet presAssocID="{30C0EDDF-123B-4AED-9DC3-00C999787077}" presName="connectorText" presStyleLbl="sibTrans1D1" presStyleIdx="3" presStyleCnt="15"/>
      <dgm:spPr/>
    </dgm:pt>
    <dgm:pt modelId="{A03F9499-5A72-408C-87D0-A667D782C725}" type="pres">
      <dgm:prSet presAssocID="{D4B6EBB0-D054-4B84-A790-C3FCFB4ED9E6}" presName="node" presStyleLbl="node1" presStyleIdx="4" presStyleCnt="16">
        <dgm:presLayoutVars>
          <dgm:bulletEnabled val="1"/>
        </dgm:presLayoutVars>
      </dgm:prSet>
      <dgm:spPr/>
    </dgm:pt>
    <dgm:pt modelId="{76D5F351-C270-41E4-87AB-F7032E052A8C}" type="pres">
      <dgm:prSet presAssocID="{84B88D28-9CEE-4F7F-9242-D0AD29473CC0}" presName="sibTrans" presStyleLbl="sibTrans1D1" presStyleIdx="4" presStyleCnt="15"/>
      <dgm:spPr/>
    </dgm:pt>
    <dgm:pt modelId="{E85E6DF6-D773-4CFD-9724-0803A5DE5EDD}" type="pres">
      <dgm:prSet presAssocID="{84B88D28-9CEE-4F7F-9242-D0AD29473CC0}" presName="connectorText" presStyleLbl="sibTrans1D1" presStyleIdx="4" presStyleCnt="15"/>
      <dgm:spPr/>
    </dgm:pt>
    <dgm:pt modelId="{EF160CAB-C604-4CD8-9BFC-930A61C523B3}" type="pres">
      <dgm:prSet presAssocID="{9463564A-4916-4516-B69E-10EA3A06299B}" presName="node" presStyleLbl="node1" presStyleIdx="5" presStyleCnt="16">
        <dgm:presLayoutVars>
          <dgm:bulletEnabled val="1"/>
        </dgm:presLayoutVars>
      </dgm:prSet>
      <dgm:spPr/>
    </dgm:pt>
    <dgm:pt modelId="{B1084173-0921-4ABE-A810-F8F37D471A81}" type="pres">
      <dgm:prSet presAssocID="{0982F15C-35C8-4190-8D18-5E81C372028B}" presName="sibTrans" presStyleLbl="sibTrans1D1" presStyleIdx="5" presStyleCnt="15"/>
      <dgm:spPr/>
    </dgm:pt>
    <dgm:pt modelId="{892F5591-B3F6-4AF0-88B6-29E3321E8122}" type="pres">
      <dgm:prSet presAssocID="{0982F15C-35C8-4190-8D18-5E81C372028B}" presName="connectorText" presStyleLbl="sibTrans1D1" presStyleIdx="5" presStyleCnt="15"/>
      <dgm:spPr/>
    </dgm:pt>
    <dgm:pt modelId="{DAA87A46-DD71-426F-8C1C-C66FD86BC416}" type="pres">
      <dgm:prSet presAssocID="{FFAB76EC-B278-470A-80EC-C1A2B129886D}" presName="node" presStyleLbl="node1" presStyleIdx="6" presStyleCnt="16">
        <dgm:presLayoutVars>
          <dgm:bulletEnabled val="1"/>
        </dgm:presLayoutVars>
      </dgm:prSet>
      <dgm:spPr/>
    </dgm:pt>
    <dgm:pt modelId="{E2C6483B-B014-4F62-AB2B-D204CF4A6526}" type="pres">
      <dgm:prSet presAssocID="{E85D4851-87CC-4AF5-A0DC-720584C63733}" presName="sibTrans" presStyleLbl="sibTrans1D1" presStyleIdx="6" presStyleCnt="15"/>
      <dgm:spPr/>
    </dgm:pt>
    <dgm:pt modelId="{0D9D7D21-0B38-4F70-89D2-7C1CAAA70581}" type="pres">
      <dgm:prSet presAssocID="{E85D4851-87CC-4AF5-A0DC-720584C63733}" presName="connectorText" presStyleLbl="sibTrans1D1" presStyleIdx="6" presStyleCnt="15"/>
      <dgm:spPr/>
    </dgm:pt>
    <dgm:pt modelId="{BB6ECCCE-42DC-4556-95D4-EC0A13707003}" type="pres">
      <dgm:prSet presAssocID="{C2A6D02E-BA69-4551-9BAD-D7963CBC1C15}" presName="node" presStyleLbl="node1" presStyleIdx="7" presStyleCnt="16">
        <dgm:presLayoutVars>
          <dgm:bulletEnabled val="1"/>
        </dgm:presLayoutVars>
      </dgm:prSet>
      <dgm:spPr/>
    </dgm:pt>
    <dgm:pt modelId="{2FF5B4C0-EC23-47EC-A5C4-A5EE21F5F6BE}" type="pres">
      <dgm:prSet presAssocID="{AB1A9373-FFC8-4440-880A-7ED325548053}" presName="sibTrans" presStyleLbl="sibTrans1D1" presStyleIdx="7" presStyleCnt="15"/>
      <dgm:spPr/>
    </dgm:pt>
    <dgm:pt modelId="{105D71F5-861C-4E4E-9A4F-0A19AC748790}" type="pres">
      <dgm:prSet presAssocID="{AB1A9373-FFC8-4440-880A-7ED325548053}" presName="connectorText" presStyleLbl="sibTrans1D1" presStyleIdx="7" presStyleCnt="15"/>
      <dgm:spPr/>
    </dgm:pt>
    <dgm:pt modelId="{66B8A652-9BF0-45DB-9C34-895CDB39E58E}" type="pres">
      <dgm:prSet presAssocID="{041EE31D-5947-4DD3-BC05-A15BAA94DBD4}" presName="node" presStyleLbl="node1" presStyleIdx="8" presStyleCnt="16">
        <dgm:presLayoutVars>
          <dgm:bulletEnabled val="1"/>
        </dgm:presLayoutVars>
      </dgm:prSet>
      <dgm:spPr/>
    </dgm:pt>
    <dgm:pt modelId="{C677EB82-1FD2-4FD8-8133-89069893DC0D}" type="pres">
      <dgm:prSet presAssocID="{51D21A6D-EBF8-45FC-B8E6-1D47C0C1FDFE}" presName="sibTrans" presStyleLbl="sibTrans1D1" presStyleIdx="8" presStyleCnt="15"/>
      <dgm:spPr/>
    </dgm:pt>
    <dgm:pt modelId="{747F4B52-8A9B-44F1-AC2F-80B88F06DD01}" type="pres">
      <dgm:prSet presAssocID="{51D21A6D-EBF8-45FC-B8E6-1D47C0C1FDFE}" presName="connectorText" presStyleLbl="sibTrans1D1" presStyleIdx="8" presStyleCnt="15"/>
      <dgm:spPr/>
    </dgm:pt>
    <dgm:pt modelId="{2B09213C-AB1D-4F23-9233-837587C11561}" type="pres">
      <dgm:prSet presAssocID="{4F4FA9A9-03D0-4667-91FE-43BD9D3358E4}" presName="node" presStyleLbl="node1" presStyleIdx="9" presStyleCnt="16">
        <dgm:presLayoutVars>
          <dgm:bulletEnabled val="1"/>
        </dgm:presLayoutVars>
      </dgm:prSet>
      <dgm:spPr/>
    </dgm:pt>
    <dgm:pt modelId="{3F652A2A-30A6-438F-B0CD-682443762B18}" type="pres">
      <dgm:prSet presAssocID="{9B52331B-4E0D-407C-B072-159D542962A5}" presName="sibTrans" presStyleLbl="sibTrans1D1" presStyleIdx="9" presStyleCnt="15"/>
      <dgm:spPr/>
    </dgm:pt>
    <dgm:pt modelId="{F7A9973A-287D-4C89-9512-701FD979082E}" type="pres">
      <dgm:prSet presAssocID="{9B52331B-4E0D-407C-B072-159D542962A5}" presName="connectorText" presStyleLbl="sibTrans1D1" presStyleIdx="9" presStyleCnt="15"/>
      <dgm:spPr/>
    </dgm:pt>
    <dgm:pt modelId="{25D5A381-1799-4088-B1D7-CBFC64CF1AD0}" type="pres">
      <dgm:prSet presAssocID="{59D4FB24-2B5F-4B02-9A23-981F444B7465}" presName="node" presStyleLbl="node1" presStyleIdx="10" presStyleCnt="16">
        <dgm:presLayoutVars>
          <dgm:bulletEnabled val="1"/>
        </dgm:presLayoutVars>
      </dgm:prSet>
      <dgm:spPr/>
    </dgm:pt>
    <dgm:pt modelId="{23F2CA97-0DC6-4466-AC93-50595710323E}" type="pres">
      <dgm:prSet presAssocID="{86F515F6-ADD2-4EAE-86D3-C4716396A875}" presName="sibTrans" presStyleLbl="sibTrans1D1" presStyleIdx="10" presStyleCnt="15"/>
      <dgm:spPr/>
    </dgm:pt>
    <dgm:pt modelId="{A1A18290-014C-4274-8DAE-6AC4044C6E47}" type="pres">
      <dgm:prSet presAssocID="{86F515F6-ADD2-4EAE-86D3-C4716396A875}" presName="connectorText" presStyleLbl="sibTrans1D1" presStyleIdx="10" presStyleCnt="15"/>
      <dgm:spPr/>
    </dgm:pt>
    <dgm:pt modelId="{113D0409-13C8-4F5E-932D-4C144327AAAD}" type="pres">
      <dgm:prSet presAssocID="{31AA7191-2E5D-47C5-964B-CF7A6C35DE31}" presName="node" presStyleLbl="node1" presStyleIdx="11" presStyleCnt="16">
        <dgm:presLayoutVars>
          <dgm:bulletEnabled val="1"/>
        </dgm:presLayoutVars>
      </dgm:prSet>
      <dgm:spPr/>
    </dgm:pt>
    <dgm:pt modelId="{E0C113F9-4267-4948-A37E-FF3D0055AE00}" type="pres">
      <dgm:prSet presAssocID="{A2692786-D891-4E72-B0A2-879066919693}" presName="sibTrans" presStyleLbl="sibTrans1D1" presStyleIdx="11" presStyleCnt="15"/>
      <dgm:spPr/>
    </dgm:pt>
    <dgm:pt modelId="{1B3945D6-03F4-4743-87FC-AD590A22B8EB}" type="pres">
      <dgm:prSet presAssocID="{A2692786-D891-4E72-B0A2-879066919693}" presName="connectorText" presStyleLbl="sibTrans1D1" presStyleIdx="11" presStyleCnt="15"/>
      <dgm:spPr/>
    </dgm:pt>
    <dgm:pt modelId="{0FD9E775-CDC2-4CFC-B6B1-F9BEFB8F9C6F}" type="pres">
      <dgm:prSet presAssocID="{38981A66-7806-4315-B9E7-C01A9A21566B}" presName="node" presStyleLbl="node1" presStyleIdx="12" presStyleCnt="16">
        <dgm:presLayoutVars>
          <dgm:bulletEnabled val="1"/>
        </dgm:presLayoutVars>
      </dgm:prSet>
      <dgm:spPr/>
    </dgm:pt>
    <dgm:pt modelId="{6D507A0F-EE22-4A71-AB69-18DB1E15571B}" type="pres">
      <dgm:prSet presAssocID="{AF2B4A1E-F2CF-4CF0-B2FC-626B3DC40989}" presName="sibTrans" presStyleLbl="sibTrans1D1" presStyleIdx="12" presStyleCnt="15"/>
      <dgm:spPr/>
    </dgm:pt>
    <dgm:pt modelId="{A2748B52-71B1-4DB3-B7A3-1371C8D4621D}" type="pres">
      <dgm:prSet presAssocID="{AF2B4A1E-F2CF-4CF0-B2FC-626B3DC40989}" presName="connectorText" presStyleLbl="sibTrans1D1" presStyleIdx="12" presStyleCnt="15"/>
      <dgm:spPr/>
    </dgm:pt>
    <dgm:pt modelId="{17258A01-2194-4BBD-99B1-A414A887DF3E}" type="pres">
      <dgm:prSet presAssocID="{B3B9EB6B-0B55-4298-85D8-36C262B802AF}" presName="node" presStyleLbl="node1" presStyleIdx="13" presStyleCnt="16">
        <dgm:presLayoutVars>
          <dgm:bulletEnabled val="1"/>
        </dgm:presLayoutVars>
      </dgm:prSet>
      <dgm:spPr/>
    </dgm:pt>
    <dgm:pt modelId="{912DF118-C031-4976-A2F7-2ADD4C0A3D55}" type="pres">
      <dgm:prSet presAssocID="{81126DEF-36C7-419A-AE4D-3FD757C50E3A}" presName="sibTrans" presStyleLbl="sibTrans1D1" presStyleIdx="13" presStyleCnt="15"/>
      <dgm:spPr/>
    </dgm:pt>
    <dgm:pt modelId="{4937EFB6-BC2B-4BF8-9B95-FA07F5198C94}" type="pres">
      <dgm:prSet presAssocID="{81126DEF-36C7-419A-AE4D-3FD757C50E3A}" presName="connectorText" presStyleLbl="sibTrans1D1" presStyleIdx="13" presStyleCnt="15"/>
      <dgm:spPr/>
    </dgm:pt>
    <dgm:pt modelId="{B12DEF77-94F3-4CD8-8E49-1C61E1E3D070}" type="pres">
      <dgm:prSet presAssocID="{E3C8D472-F3C8-41DE-88AE-825C8EA3493F}" presName="node" presStyleLbl="node1" presStyleIdx="14" presStyleCnt="16">
        <dgm:presLayoutVars>
          <dgm:bulletEnabled val="1"/>
        </dgm:presLayoutVars>
      </dgm:prSet>
      <dgm:spPr/>
    </dgm:pt>
    <dgm:pt modelId="{0FB0B333-C4AD-41A1-9A8E-0FF4006AF05D}" type="pres">
      <dgm:prSet presAssocID="{238B834A-BFBF-4921-BDF0-AAA2B2A098C3}" presName="sibTrans" presStyleLbl="sibTrans1D1" presStyleIdx="14" presStyleCnt="15"/>
      <dgm:spPr/>
    </dgm:pt>
    <dgm:pt modelId="{171FC2DD-AE9B-4A9F-BE4A-76B21DDEAB23}" type="pres">
      <dgm:prSet presAssocID="{238B834A-BFBF-4921-BDF0-AAA2B2A098C3}" presName="connectorText" presStyleLbl="sibTrans1D1" presStyleIdx="14" presStyleCnt="15"/>
      <dgm:spPr/>
    </dgm:pt>
    <dgm:pt modelId="{B80F3512-477B-45A9-AD76-8D44F07315F6}" type="pres">
      <dgm:prSet presAssocID="{1FACB3C4-2BD5-4621-B179-E6EBF2BD0F89}" presName="node" presStyleLbl="node1" presStyleIdx="15" presStyleCnt="16">
        <dgm:presLayoutVars>
          <dgm:bulletEnabled val="1"/>
        </dgm:presLayoutVars>
      </dgm:prSet>
      <dgm:spPr/>
    </dgm:pt>
  </dgm:ptLst>
  <dgm:cxnLst>
    <dgm:cxn modelId="{4E5FDE00-FA19-4F3F-B586-C00F20FA1BFA}" srcId="{20D1F88F-B164-411C-B0FA-BF65CEA3F848}" destId="{B3B9EB6B-0B55-4298-85D8-36C262B802AF}" srcOrd="13" destOrd="0" parTransId="{09B94D55-0E3A-4E92-B210-C6043BADEC17}" sibTransId="{81126DEF-36C7-419A-AE4D-3FD757C50E3A}"/>
    <dgm:cxn modelId="{152AAA07-0CE2-40B0-8CFD-41E1FE640850}" type="presOf" srcId="{E85D4851-87CC-4AF5-A0DC-720584C63733}" destId="{E2C6483B-B014-4F62-AB2B-D204CF4A6526}" srcOrd="0" destOrd="0" presId="urn:microsoft.com/office/officeart/2016/7/layout/RepeatingBendingProcessNew"/>
    <dgm:cxn modelId="{010FEA0B-E8A6-4F58-B98D-11AB3D5AD8FF}" srcId="{20D1F88F-B164-411C-B0FA-BF65CEA3F848}" destId="{FFAB76EC-B278-470A-80EC-C1A2B129886D}" srcOrd="6" destOrd="0" parTransId="{82ED7D7E-0014-43A8-99CB-739A3CD8D91D}" sibTransId="{E85D4851-87CC-4AF5-A0DC-720584C63733}"/>
    <dgm:cxn modelId="{1B4D160F-E2F9-4315-B74E-163680F5269B}" srcId="{20D1F88F-B164-411C-B0FA-BF65CEA3F848}" destId="{C2A6D02E-BA69-4551-9BAD-D7963CBC1C15}" srcOrd="7" destOrd="0" parTransId="{2F9225EC-CD90-41F8-842F-855825EE4FA7}" sibTransId="{AB1A9373-FFC8-4440-880A-7ED325548053}"/>
    <dgm:cxn modelId="{4B64ED13-02AF-435E-81E8-A2729C096C75}" type="presOf" srcId="{81126DEF-36C7-419A-AE4D-3FD757C50E3A}" destId="{912DF118-C031-4976-A2F7-2ADD4C0A3D55}" srcOrd="0" destOrd="0" presId="urn:microsoft.com/office/officeart/2016/7/layout/RepeatingBendingProcessNew"/>
    <dgm:cxn modelId="{C4DCE51E-2D37-4BF4-8B8C-818AF512E0BB}" type="presOf" srcId="{1195AE92-6B21-4AAD-B01D-2DBA9E0E4AD4}" destId="{680DEF66-61FC-4BC5-84EC-B09737D60989}" srcOrd="0" destOrd="0" presId="urn:microsoft.com/office/officeart/2016/7/layout/RepeatingBendingProcessNew"/>
    <dgm:cxn modelId="{F1B1A423-7C91-4699-A638-F644DEE90281}" type="presOf" srcId="{9B52331B-4E0D-407C-B072-159D542962A5}" destId="{F7A9973A-287D-4C89-9512-701FD979082E}" srcOrd="1" destOrd="0" presId="urn:microsoft.com/office/officeart/2016/7/layout/RepeatingBendingProcessNew"/>
    <dgm:cxn modelId="{2D046324-9D33-4A43-9AB0-8B5AA666AB44}" srcId="{20D1F88F-B164-411C-B0FA-BF65CEA3F848}" destId="{858DBE0F-05F0-4F3D-BE53-049E34E9C2D6}" srcOrd="0" destOrd="0" parTransId="{CBEAAD12-AC40-4C2E-A37C-9DF0F1458154}" sibTransId="{1195AE92-6B21-4AAD-B01D-2DBA9E0E4AD4}"/>
    <dgm:cxn modelId="{A11C5C28-1441-4091-A146-2FD3ED6085E5}" type="presOf" srcId="{30C0EDDF-123B-4AED-9DC3-00C999787077}" destId="{5334348F-3F22-49F0-941C-B53608985137}" srcOrd="0" destOrd="0" presId="urn:microsoft.com/office/officeart/2016/7/layout/RepeatingBendingProcessNew"/>
    <dgm:cxn modelId="{0AA73334-B053-47B1-B119-BBAAF736575E}" type="presOf" srcId="{59D4FB24-2B5F-4B02-9A23-981F444B7465}" destId="{25D5A381-1799-4088-B1D7-CBFC64CF1AD0}" srcOrd="0" destOrd="0" presId="urn:microsoft.com/office/officeart/2016/7/layout/RepeatingBendingProcessNew"/>
    <dgm:cxn modelId="{DED7DE3C-F3C2-4970-83E0-3543362A4AA8}" type="presOf" srcId="{1195AE92-6B21-4AAD-B01D-2DBA9E0E4AD4}" destId="{6B017E31-A9DF-4E08-A60E-46C10B6D05E7}" srcOrd="1" destOrd="0" presId="urn:microsoft.com/office/officeart/2016/7/layout/RepeatingBendingProcessNew"/>
    <dgm:cxn modelId="{AB03453E-A5D6-4555-A83D-967C490F92EA}" type="presOf" srcId="{AB1A9373-FFC8-4440-880A-7ED325548053}" destId="{105D71F5-861C-4E4E-9A4F-0A19AC748790}" srcOrd="1" destOrd="0" presId="urn:microsoft.com/office/officeart/2016/7/layout/RepeatingBendingProcessNew"/>
    <dgm:cxn modelId="{B2DDB761-1C65-4BFC-91C4-2057AE1774E5}" type="presOf" srcId="{9463564A-4916-4516-B69E-10EA3A06299B}" destId="{EF160CAB-C604-4CD8-9BFC-930A61C523B3}" srcOrd="0" destOrd="0" presId="urn:microsoft.com/office/officeart/2016/7/layout/RepeatingBendingProcessNew"/>
    <dgm:cxn modelId="{6EBC6B42-73AD-46BF-A36B-DFEBC9263B43}" type="presOf" srcId="{AF2B4A1E-F2CF-4CF0-B2FC-626B3DC40989}" destId="{A2748B52-71B1-4DB3-B7A3-1371C8D4621D}" srcOrd="1" destOrd="0" presId="urn:microsoft.com/office/officeart/2016/7/layout/RepeatingBendingProcessNew"/>
    <dgm:cxn modelId="{555BC444-3A6B-4183-B2F4-12BB41381273}" srcId="{20D1F88F-B164-411C-B0FA-BF65CEA3F848}" destId="{2A3137CD-7B5E-4307-AE31-3FDE046173AC}" srcOrd="1" destOrd="0" parTransId="{D0E281F0-3653-4D41-8C1A-83DAFFE2854D}" sibTransId="{305130FF-4F37-4A6D-BF83-825B01F78473}"/>
    <dgm:cxn modelId="{50A4CD4B-5094-437E-9D47-30798436344B}" type="presOf" srcId="{041EE31D-5947-4DD3-BC05-A15BAA94DBD4}" destId="{66B8A652-9BF0-45DB-9C34-895CDB39E58E}" srcOrd="0" destOrd="0" presId="urn:microsoft.com/office/officeart/2016/7/layout/RepeatingBendingProcessNew"/>
    <dgm:cxn modelId="{029E096D-1247-43AF-9244-7AC7E8DD6172}" type="presOf" srcId="{AB1A9373-FFC8-4440-880A-7ED325548053}" destId="{2FF5B4C0-EC23-47EC-A5C4-A5EE21F5F6BE}" srcOrd="0" destOrd="0" presId="urn:microsoft.com/office/officeart/2016/7/layout/RepeatingBendingProcessNew"/>
    <dgm:cxn modelId="{78080F6D-BC4B-4BB6-99D0-862D48B48B79}" srcId="{20D1F88F-B164-411C-B0FA-BF65CEA3F848}" destId="{31AA7191-2E5D-47C5-964B-CF7A6C35DE31}" srcOrd="11" destOrd="0" parTransId="{E9EE6862-9764-489C-9FAA-5DCF30C7A179}" sibTransId="{A2692786-D891-4E72-B0A2-879066919693}"/>
    <dgm:cxn modelId="{BB679B4E-EBBD-45FE-B0EB-50823EDCD487}" type="presOf" srcId="{305130FF-4F37-4A6D-BF83-825B01F78473}" destId="{4F05B03E-4259-492B-B83A-BD160758E882}" srcOrd="1" destOrd="0" presId="urn:microsoft.com/office/officeart/2016/7/layout/RepeatingBendingProcessNew"/>
    <dgm:cxn modelId="{2D5ABF4E-C66F-4835-9A14-CB6AEC9D5AC6}" type="presOf" srcId="{0982F15C-35C8-4190-8D18-5E81C372028B}" destId="{892F5591-B3F6-4AF0-88B6-29E3321E8122}" srcOrd="1" destOrd="0" presId="urn:microsoft.com/office/officeart/2016/7/layout/RepeatingBendingProcessNew"/>
    <dgm:cxn modelId="{CAAB666F-7916-4C24-8804-BA6C5E028DF4}" type="presOf" srcId="{9B52331B-4E0D-407C-B072-159D542962A5}" destId="{3F652A2A-30A6-438F-B0CD-682443762B18}" srcOrd="0" destOrd="0" presId="urn:microsoft.com/office/officeart/2016/7/layout/RepeatingBendingProcessNew"/>
    <dgm:cxn modelId="{2569CC4F-D1A2-4395-B29D-EB1AE487C901}" type="presOf" srcId="{AAF57D9B-3DF2-4ACE-A03D-723ADB01D34D}" destId="{1D2EA8DC-6C65-4DB8-994E-116FDCE3914C}" srcOrd="0" destOrd="0" presId="urn:microsoft.com/office/officeart/2016/7/layout/RepeatingBendingProcessNew"/>
    <dgm:cxn modelId="{173F1550-7DF2-4F76-863D-70873D6A96F9}" type="presOf" srcId="{AF2B4A1E-F2CF-4CF0-B2FC-626B3DC40989}" destId="{6D507A0F-EE22-4A71-AB69-18DB1E15571B}" srcOrd="0" destOrd="0" presId="urn:microsoft.com/office/officeart/2016/7/layout/RepeatingBendingProcessNew"/>
    <dgm:cxn modelId="{89828D51-A3EF-4CF6-A71C-D8E0A14DA7DA}" type="presOf" srcId="{A2692786-D891-4E72-B0A2-879066919693}" destId="{1B3945D6-03F4-4743-87FC-AD590A22B8EB}" srcOrd="1" destOrd="0" presId="urn:microsoft.com/office/officeart/2016/7/layout/RepeatingBendingProcessNew"/>
    <dgm:cxn modelId="{DE771A5A-CA0F-43B6-A31C-033F077CC62D}" type="presOf" srcId="{75AF25AC-A4E5-40F1-896B-6D9A1A6C91CB}" destId="{6595D8A8-543E-4E58-8326-333EB16A54AF}" srcOrd="0" destOrd="0" presId="urn:microsoft.com/office/officeart/2016/7/layout/RepeatingBendingProcessNew"/>
    <dgm:cxn modelId="{F05F2F7C-EC52-4246-8628-54214A3C60DB}" type="presOf" srcId="{86F515F6-ADD2-4EAE-86D3-C4716396A875}" destId="{A1A18290-014C-4274-8DAE-6AC4044C6E47}" srcOrd="1" destOrd="0" presId="urn:microsoft.com/office/officeart/2016/7/layout/RepeatingBendingProcessNew"/>
    <dgm:cxn modelId="{16AE267D-6EBC-48DA-BF4B-54B665EB1691}" type="presOf" srcId="{51D21A6D-EBF8-45FC-B8E6-1D47C0C1FDFE}" destId="{747F4B52-8A9B-44F1-AC2F-80B88F06DD01}" srcOrd="1" destOrd="0" presId="urn:microsoft.com/office/officeart/2016/7/layout/RepeatingBendingProcessNew"/>
    <dgm:cxn modelId="{8CEC8080-4007-4A1C-9425-F79FA1E26FD9}" srcId="{20D1F88F-B164-411C-B0FA-BF65CEA3F848}" destId="{59D4FB24-2B5F-4B02-9A23-981F444B7465}" srcOrd="10" destOrd="0" parTransId="{65791D5C-A6EC-4A80-87E3-FAC81BEFD608}" sibTransId="{86F515F6-ADD2-4EAE-86D3-C4716396A875}"/>
    <dgm:cxn modelId="{457EEF82-1B5E-44FD-BBF0-F10836C5DBBD}" type="presOf" srcId="{305130FF-4F37-4A6D-BF83-825B01F78473}" destId="{95590387-7B9B-4C4C-BCD9-E3AFA8A0E64B}" srcOrd="0" destOrd="0" presId="urn:microsoft.com/office/officeart/2016/7/layout/RepeatingBendingProcessNew"/>
    <dgm:cxn modelId="{E7D21384-9421-4891-BD97-A4E4333A3116}" srcId="{20D1F88F-B164-411C-B0FA-BF65CEA3F848}" destId="{9463564A-4916-4516-B69E-10EA3A06299B}" srcOrd="5" destOrd="0" parTransId="{940C10A9-42AC-4190-BC2D-22403A0CEE67}" sibTransId="{0982F15C-35C8-4190-8D18-5E81C372028B}"/>
    <dgm:cxn modelId="{13449988-3FFD-4A93-B6BC-119A175FA0B0}" type="presOf" srcId="{81126DEF-36C7-419A-AE4D-3FD757C50E3A}" destId="{4937EFB6-BC2B-4BF8-9B95-FA07F5198C94}" srcOrd="1" destOrd="0" presId="urn:microsoft.com/office/officeart/2016/7/layout/RepeatingBendingProcessNew"/>
    <dgm:cxn modelId="{2C319B88-69D0-400A-81B6-3B5C91D3D309}" srcId="{20D1F88F-B164-411C-B0FA-BF65CEA3F848}" destId="{38981A66-7806-4315-B9E7-C01A9A21566B}" srcOrd="12" destOrd="0" parTransId="{CF0DA25D-CDB3-4DDF-A97F-AED9D96F72D0}" sibTransId="{AF2B4A1E-F2CF-4CF0-B2FC-626B3DC40989}"/>
    <dgm:cxn modelId="{A147D38B-8707-4E70-A133-801F02600C56}" type="presOf" srcId="{E85D4851-87CC-4AF5-A0DC-720584C63733}" destId="{0D9D7D21-0B38-4F70-89D2-7C1CAAA70581}" srcOrd="1" destOrd="0" presId="urn:microsoft.com/office/officeart/2016/7/layout/RepeatingBendingProcessNew"/>
    <dgm:cxn modelId="{5D961297-2E64-4EF3-836A-0A9E49B4EE06}" type="presOf" srcId="{31AA7191-2E5D-47C5-964B-CF7A6C35DE31}" destId="{113D0409-13C8-4F5E-932D-4C144327AAAD}" srcOrd="0" destOrd="0" presId="urn:microsoft.com/office/officeart/2016/7/layout/RepeatingBendingProcessNew"/>
    <dgm:cxn modelId="{37FE43A3-3550-453C-A5CA-22681DB6F9E4}" srcId="{20D1F88F-B164-411C-B0FA-BF65CEA3F848}" destId="{E3C8D472-F3C8-41DE-88AE-825C8EA3493F}" srcOrd="14" destOrd="0" parTransId="{F0029002-3711-4110-8AB0-85384B450D29}" sibTransId="{238B834A-BFBF-4921-BDF0-AAA2B2A098C3}"/>
    <dgm:cxn modelId="{CF5DB9A4-D4DE-497D-8261-E7941ACC6F42}" type="presOf" srcId="{2A3137CD-7B5E-4307-AE31-3FDE046173AC}" destId="{BD2C73BB-89A0-4F0E-A6EE-F4A8BD6E5F22}" srcOrd="0" destOrd="0" presId="urn:microsoft.com/office/officeart/2016/7/layout/RepeatingBendingProcessNew"/>
    <dgm:cxn modelId="{3A5111A8-1436-4512-A1EC-95A6626D948A}" type="presOf" srcId="{E7F36D67-5D07-4711-B793-662E9CCB6F94}" destId="{FF94D84A-33CF-4C9F-9B62-EB10BEF5C996}" srcOrd="0" destOrd="0" presId="urn:microsoft.com/office/officeart/2016/7/layout/RepeatingBendingProcessNew"/>
    <dgm:cxn modelId="{F4F0FFA8-319A-4FEB-BD37-A26D9B83957F}" type="presOf" srcId="{84B88D28-9CEE-4F7F-9242-D0AD29473CC0}" destId="{76D5F351-C270-41E4-87AB-F7032E052A8C}" srcOrd="0" destOrd="0" presId="urn:microsoft.com/office/officeart/2016/7/layout/RepeatingBendingProcessNew"/>
    <dgm:cxn modelId="{A741C9AC-28D2-41A1-856F-77C4C794B086}" type="presOf" srcId="{D4B6EBB0-D054-4B84-A790-C3FCFB4ED9E6}" destId="{A03F9499-5A72-408C-87D0-A667D782C725}" srcOrd="0" destOrd="0" presId="urn:microsoft.com/office/officeart/2016/7/layout/RepeatingBendingProcessNew"/>
    <dgm:cxn modelId="{E719FCB3-994D-4B1F-8071-A1E0171EE6B0}" type="presOf" srcId="{1FACB3C4-2BD5-4621-B179-E6EBF2BD0F89}" destId="{B80F3512-477B-45A9-AD76-8D44F07315F6}" srcOrd="0" destOrd="0" presId="urn:microsoft.com/office/officeart/2016/7/layout/RepeatingBendingProcessNew"/>
    <dgm:cxn modelId="{7CE4B7B4-BE74-4A89-80C0-BDE12AFC8E27}" type="presOf" srcId="{C2A6D02E-BA69-4551-9BAD-D7963CBC1C15}" destId="{BB6ECCCE-42DC-4556-95D4-EC0A13707003}" srcOrd="0" destOrd="0" presId="urn:microsoft.com/office/officeart/2016/7/layout/RepeatingBendingProcessNew"/>
    <dgm:cxn modelId="{3FC6BAB9-8221-41BC-AA4B-3998C20CAFEE}" type="presOf" srcId="{E3C8D472-F3C8-41DE-88AE-825C8EA3493F}" destId="{B12DEF77-94F3-4CD8-8E49-1C61E1E3D070}" srcOrd="0" destOrd="0" presId="urn:microsoft.com/office/officeart/2016/7/layout/RepeatingBendingProcessNew"/>
    <dgm:cxn modelId="{FC8C0DBC-3F31-46EC-B055-70741702A942}" srcId="{20D1F88F-B164-411C-B0FA-BF65CEA3F848}" destId="{D4B6EBB0-D054-4B84-A790-C3FCFB4ED9E6}" srcOrd="4" destOrd="0" parTransId="{CB0A9B39-A4F5-495A-B791-3C9F8B0B0DB4}" sibTransId="{84B88D28-9CEE-4F7F-9242-D0AD29473CC0}"/>
    <dgm:cxn modelId="{94DDDBC0-5AA2-47FF-98F4-3CE622AE05A4}" srcId="{20D1F88F-B164-411C-B0FA-BF65CEA3F848}" destId="{1FACB3C4-2BD5-4621-B179-E6EBF2BD0F89}" srcOrd="15" destOrd="0" parTransId="{A1A08F84-92F8-4819-AD1F-C0698D2BFFB6}" sibTransId="{6A222168-2D2E-4F4F-8B2A-4FDBDA08C3E8}"/>
    <dgm:cxn modelId="{CEEDC0C2-5E7E-42D1-B8C1-4F3E0AE84E2A}" type="presOf" srcId="{238B834A-BFBF-4921-BDF0-AAA2B2A098C3}" destId="{171FC2DD-AE9B-4A9F-BE4A-76B21DDEAB23}" srcOrd="1" destOrd="0" presId="urn:microsoft.com/office/officeart/2016/7/layout/RepeatingBendingProcessNew"/>
    <dgm:cxn modelId="{5586F7C2-BBCD-40E3-8D81-CA7E0572D6CA}" srcId="{20D1F88F-B164-411C-B0FA-BF65CEA3F848}" destId="{E7F36D67-5D07-4711-B793-662E9CCB6F94}" srcOrd="3" destOrd="0" parTransId="{4EE3861D-C32C-4359-96FA-6247EA4C8066}" sibTransId="{30C0EDDF-123B-4AED-9DC3-00C999787077}"/>
    <dgm:cxn modelId="{43A685C5-B02E-45D6-AC09-B78E618855B2}" type="presOf" srcId="{84B88D28-9CEE-4F7F-9242-D0AD29473CC0}" destId="{E85E6DF6-D773-4CFD-9724-0803A5DE5EDD}" srcOrd="1" destOrd="0" presId="urn:microsoft.com/office/officeart/2016/7/layout/RepeatingBendingProcessNew"/>
    <dgm:cxn modelId="{C2732CC6-9901-4884-8B54-D87DF5DFB816}" type="presOf" srcId="{86F515F6-ADD2-4EAE-86D3-C4716396A875}" destId="{23F2CA97-0DC6-4466-AC93-50595710323E}" srcOrd="0" destOrd="0" presId="urn:microsoft.com/office/officeart/2016/7/layout/RepeatingBendingProcessNew"/>
    <dgm:cxn modelId="{97391EC7-B257-4F3C-98C1-B3C7685CE2E2}" type="presOf" srcId="{38981A66-7806-4315-B9E7-C01A9A21566B}" destId="{0FD9E775-CDC2-4CFC-B6B1-F9BEFB8F9C6F}" srcOrd="0" destOrd="0" presId="urn:microsoft.com/office/officeart/2016/7/layout/RepeatingBendingProcessNew"/>
    <dgm:cxn modelId="{9A91BEC9-F067-415E-A411-BC6E4B51AD03}" type="presOf" srcId="{858DBE0F-05F0-4F3D-BE53-049E34E9C2D6}" destId="{ED3C4540-80FB-4397-832E-EA9D1FFB1DD4}" srcOrd="0" destOrd="0" presId="urn:microsoft.com/office/officeart/2016/7/layout/RepeatingBendingProcessNew"/>
    <dgm:cxn modelId="{42CCB2CA-70CC-4653-AD4D-89E3D081B02C}" type="presOf" srcId="{4F4FA9A9-03D0-4667-91FE-43BD9D3358E4}" destId="{2B09213C-AB1D-4F23-9233-837587C11561}" srcOrd="0" destOrd="0" presId="urn:microsoft.com/office/officeart/2016/7/layout/RepeatingBendingProcessNew"/>
    <dgm:cxn modelId="{16F0A6D2-1AA5-4ED7-A578-51FFFBFD45D4}" type="presOf" srcId="{A2692786-D891-4E72-B0A2-879066919693}" destId="{E0C113F9-4267-4948-A37E-FF3D0055AE00}" srcOrd="0" destOrd="0" presId="urn:microsoft.com/office/officeart/2016/7/layout/RepeatingBendingProcessNew"/>
    <dgm:cxn modelId="{3330D1D6-97EA-4E8E-96CA-95389839F70F}" srcId="{20D1F88F-B164-411C-B0FA-BF65CEA3F848}" destId="{75AF25AC-A4E5-40F1-896B-6D9A1A6C91CB}" srcOrd="2" destOrd="0" parTransId="{10DDDF17-3DB0-4BF4-92FA-727293A10E59}" sibTransId="{AAF57D9B-3DF2-4ACE-A03D-723ADB01D34D}"/>
    <dgm:cxn modelId="{FDF35CDA-E7FF-422D-9A90-33E75BA346A2}" type="presOf" srcId="{FFAB76EC-B278-470A-80EC-C1A2B129886D}" destId="{DAA87A46-DD71-426F-8C1C-C66FD86BC416}" srcOrd="0" destOrd="0" presId="urn:microsoft.com/office/officeart/2016/7/layout/RepeatingBendingProcessNew"/>
    <dgm:cxn modelId="{1F8B2DDC-A2D9-40C1-959F-5B086C1AB146}" type="presOf" srcId="{0982F15C-35C8-4190-8D18-5E81C372028B}" destId="{B1084173-0921-4ABE-A810-F8F37D471A81}" srcOrd="0" destOrd="0" presId="urn:microsoft.com/office/officeart/2016/7/layout/RepeatingBendingProcessNew"/>
    <dgm:cxn modelId="{F354F9DC-6496-4707-8FB5-23E266289D33}" type="presOf" srcId="{B3B9EB6B-0B55-4298-85D8-36C262B802AF}" destId="{17258A01-2194-4BBD-99B1-A414A887DF3E}" srcOrd="0" destOrd="0" presId="urn:microsoft.com/office/officeart/2016/7/layout/RepeatingBendingProcessNew"/>
    <dgm:cxn modelId="{F2A7CAE2-7F74-4DB5-8214-12CD18C10426}" srcId="{20D1F88F-B164-411C-B0FA-BF65CEA3F848}" destId="{4F4FA9A9-03D0-4667-91FE-43BD9D3358E4}" srcOrd="9" destOrd="0" parTransId="{12235530-BDF8-4A9E-9F75-01C26C6054D1}" sibTransId="{9B52331B-4E0D-407C-B072-159D542962A5}"/>
    <dgm:cxn modelId="{17D595ED-9CD3-4AC9-A380-777EEDD68928}" type="presOf" srcId="{238B834A-BFBF-4921-BDF0-AAA2B2A098C3}" destId="{0FB0B333-C4AD-41A1-9A8E-0FF4006AF05D}" srcOrd="0" destOrd="0" presId="urn:microsoft.com/office/officeart/2016/7/layout/RepeatingBendingProcessNew"/>
    <dgm:cxn modelId="{A4F500F6-F05F-455D-BDAD-108854818E28}" type="presOf" srcId="{30C0EDDF-123B-4AED-9DC3-00C999787077}" destId="{0B4945D9-439C-4218-95DF-6074E7A025FA}" srcOrd="1" destOrd="0" presId="urn:microsoft.com/office/officeart/2016/7/layout/RepeatingBendingProcessNew"/>
    <dgm:cxn modelId="{E42F8AFD-464A-48AC-9292-B26B8A53A154}" type="presOf" srcId="{AAF57D9B-3DF2-4ACE-A03D-723ADB01D34D}" destId="{6F4B77CB-26EF-4A5A-9D44-550EDBC492E9}" srcOrd="1" destOrd="0" presId="urn:microsoft.com/office/officeart/2016/7/layout/RepeatingBendingProcessNew"/>
    <dgm:cxn modelId="{44D9E0FD-3E91-469C-9E72-6228875CE2C2}" srcId="{20D1F88F-B164-411C-B0FA-BF65CEA3F848}" destId="{041EE31D-5947-4DD3-BC05-A15BAA94DBD4}" srcOrd="8" destOrd="0" parTransId="{C7736E73-F0F4-447C-867B-D9189E6BA33B}" sibTransId="{51D21A6D-EBF8-45FC-B8E6-1D47C0C1FDFE}"/>
    <dgm:cxn modelId="{945FF3FD-B0F6-49B3-B5AA-395144F1B1D8}" type="presOf" srcId="{20D1F88F-B164-411C-B0FA-BF65CEA3F848}" destId="{12613560-C39C-4C59-A9DC-DF13D1448FAA}" srcOrd="0" destOrd="0" presId="urn:microsoft.com/office/officeart/2016/7/layout/RepeatingBendingProcessNew"/>
    <dgm:cxn modelId="{F2A135FF-9784-408B-B9DC-94AAE72A47DA}" type="presOf" srcId="{51D21A6D-EBF8-45FC-B8E6-1D47C0C1FDFE}" destId="{C677EB82-1FD2-4FD8-8133-89069893DC0D}" srcOrd="0" destOrd="0" presId="urn:microsoft.com/office/officeart/2016/7/layout/RepeatingBendingProcessNew"/>
    <dgm:cxn modelId="{FEEA8132-35E5-4066-9D03-4605C16E7A59}" type="presParOf" srcId="{12613560-C39C-4C59-A9DC-DF13D1448FAA}" destId="{ED3C4540-80FB-4397-832E-EA9D1FFB1DD4}" srcOrd="0" destOrd="0" presId="urn:microsoft.com/office/officeart/2016/7/layout/RepeatingBendingProcessNew"/>
    <dgm:cxn modelId="{DBB9B048-A821-489B-94E9-82DB4853CD2C}" type="presParOf" srcId="{12613560-C39C-4C59-A9DC-DF13D1448FAA}" destId="{680DEF66-61FC-4BC5-84EC-B09737D60989}" srcOrd="1" destOrd="0" presId="urn:microsoft.com/office/officeart/2016/7/layout/RepeatingBendingProcessNew"/>
    <dgm:cxn modelId="{46155A87-F293-4661-BFA5-FB55C25BE5BD}" type="presParOf" srcId="{680DEF66-61FC-4BC5-84EC-B09737D60989}" destId="{6B017E31-A9DF-4E08-A60E-46C10B6D05E7}" srcOrd="0" destOrd="0" presId="urn:microsoft.com/office/officeart/2016/7/layout/RepeatingBendingProcessNew"/>
    <dgm:cxn modelId="{30F53A24-982B-454B-BC52-E0D1704C9A79}" type="presParOf" srcId="{12613560-C39C-4C59-A9DC-DF13D1448FAA}" destId="{BD2C73BB-89A0-4F0E-A6EE-F4A8BD6E5F22}" srcOrd="2" destOrd="0" presId="urn:microsoft.com/office/officeart/2016/7/layout/RepeatingBendingProcessNew"/>
    <dgm:cxn modelId="{31D40FE6-6CD6-4947-8300-50A5E57ACF44}" type="presParOf" srcId="{12613560-C39C-4C59-A9DC-DF13D1448FAA}" destId="{95590387-7B9B-4C4C-BCD9-E3AFA8A0E64B}" srcOrd="3" destOrd="0" presId="urn:microsoft.com/office/officeart/2016/7/layout/RepeatingBendingProcessNew"/>
    <dgm:cxn modelId="{0CD0B51E-3F41-43C2-8EA1-EBBCC5BB5F97}" type="presParOf" srcId="{95590387-7B9B-4C4C-BCD9-E3AFA8A0E64B}" destId="{4F05B03E-4259-492B-B83A-BD160758E882}" srcOrd="0" destOrd="0" presId="urn:microsoft.com/office/officeart/2016/7/layout/RepeatingBendingProcessNew"/>
    <dgm:cxn modelId="{79955A3C-F265-4AD8-9B90-2EDDE3B21FA5}" type="presParOf" srcId="{12613560-C39C-4C59-A9DC-DF13D1448FAA}" destId="{6595D8A8-543E-4E58-8326-333EB16A54AF}" srcOrd="4" destOrd="0" presId="urn:microsoft.com/office/officeart/2016/7/layout/RepeatingBendingProcessNew"/>
    <dgm:cxn modelId="{CB351445-F1A3-434A-A143-51072BF63EB8}" type="presParOf" srcId="{12613560-C39C-4C59-A9DC-DF13D1448FAA}" destId="{1D2EA8DC-6C65-4DB8-994E-116FDCE3914C}" srcOrd="5" destOrd="0" presId="urn:microsoft.com/office/officeart/2016/7/layout/RepeatingBendingProcessNew"/>
    <dgm:cxn modelId="{4673FBC1-3474-4BB7-BD21-00FCA783EEC0}" type="presParOf" srcId="{1D2EA8DC-6C65-4DB8-994E-116FDCE3914C}" destId="{6F4B77CB-26EF-4A5A-9D44-550EDBC492E9}" srcOrd="0" destOrd="0" presId="urn:microsoft.com/office/officeart/2016/7/layout/RepeatingBendingProcessNew"/>
    <dgm:cxn modelId="{D08D2BAE-17C6-49E3-A987-1F283DBDD0EA}" type="presParOf" srcId="{12613560-C39C-4C59-A9DC-DF13D1448FAA}" destId="{FF94D84A-33CF-4C9F-9B62-EB10BEF5C996}" srcOrd="6" destOrd="0" presId="urn:microsoft.com/office/officeart/2016/7/layout/RepeatingBendingProcessNew"/>
    <dgm:cxn modelId="{4AD65AA5-F172-4E53-845C-A4A2E508357E}" type="presParOf" srcId="{12613560-C39C-4C59-A9DC-DF13D1448FAA}" destId="{5334348F-3F22-49F0-941C-B53608985137}" srcOrd="7" destOrd="0" presId="urn:microsoft.com/office/officeart/2016/7/layout/RepeatingBendingProcessNew"/>
    <dgm:cxn modelId="{61DAB6C5-6479-4AED-A5D7-7718A5BBF27C}" type="presParOf" srcId="{5334348F-3F22-49F0-941C-B53608985137}" destId="{0B4945D9-439C-4218-95DF-6074E7A025FA}" srcOrd="0" destOrd="0" presId="urn:microsoft.com/office/officeart/2016/7/layout/RepeatingBendingProcessNew"/>
    <dgm:cxn modelId="{3F937A91-F48F-47D0-A721-65252B03CB71}" type="presParOf" srcId="{12613560-C39C-4C59-A9DC-DF13D1448FAA}" destId="{A03F9499-5A72-408C-87D0-A667D782C725}" srcOrd="8" destOrd="0" presId="urn:microsoft.com/office/officeart/2016/7/layout/RepeatingBendingProcessNew"/>
    <dgm:cxn modelId="{3195436A-F8B5-4066-9DA6-01B46AB7F4C0}" type="presParOf" srcId="{12613560-C39C-4C59-A9DC-DF13D1448FAA}" destId="{76D5F351-C270-41E4-87AB-F7032E052A8C}" srcOrd="9" destOrd="0" presId="urn:microsoft.com/office/officeart/2016/7/layout/RepeatingBendingProcessNew"/>
    <dgm:cxn modelId="{0BE97E4C-F39E-4333-B0ED-84B3AC3FA6C9}" type="presParOf" srcId="{76D5F351-C270-41E4-87AB-F7032E052A8C}" destId="{E85E6DF6-D773-4CFD-9724-0803A5DE5EDD}" srcOrd="0" destOrd="0" presId="urn:microsoft.com/office/officeart/2016/7/layout/RepeatingBendingProcessNew"/>
    <dgm:cxn modelId="{D670798B-359C-4651-8D69-D3FDDBB958A8}" type="presParOf" srcId="{12613560-C39C-4C59-A9DC-DF13D1448FAA}" destId="{EF160CAB-C604-4CD8-9BFC-930A61C523B3}" srcOrd="10" destOrd="0" presId="urn:microsoft.com/office/officeart/2016/7/layout/RepeatingBendingProcessNew"/>
    <dgm:cxn modelId="{7E3EE2E8-1FB8-4FFD-A262-C805BE2B3346}" type="presParOf" srcId="{12613560-C39C-4C59-A9DC-DF13D1448FAA}" destId="{B1084173-0921-4ABE-A810-F8F37D471A81}" srcOrd="11" destOrd="0" presId="urn:microsoft.com/office/officeart/2016/7/layout/RepeatingBendingProcessNew"/>
    <dgm:cxn modelId="{1F4AE4E6-09ED-4264-AFFE-BCEB81702C64}" type="presParOf" srcId="{B1084173-0921-4ABE-A810-F8F37D471A81}" destId="{892F5591-B3F6-4AF0-88B6-29E3321E8122}" srcOrd="0" destOrd="0" presId="urn:microsoft.com/office/officeart/2016/7/layout/RepeatingBendingProcessNew"/>
    <dgm:cxn modelId="{F6118F20-4513-4559-AA17-0B8AC798034C}" type="presParOf" srcId="{12613560-C39C-4C59-A9DC-DF13D1448FAA}" destId="{DAA87A46-DD71-426F-8C1C-C66FD86BC416}" srcOrd="12" destOrd="0" presId="urn:microsoft.com/office/officeart/2016/7/layout/RepeatingBendingProcessNew"/>
    <dgm:cxn modelId="{1E7FA0C6-7D4F-49BA-9B03-BE5FE3D4E264}" type="presParOf" srcId="{12613560-C39C-4C59-A9DC-DF13D1448FAA}" destId="{E2C6483B-B014-4F62-AB2B-D204CF4A6526}" srcOrd="13" destOrd="0" presId="urn:microsoft.com/office/officeart/2016/7/layout/RepeatingBendingProcessNew"/>
    <dgm:cxn modelId="{107B1E23-5C2A-4BAD-8B88-6CF049EFACF6}" type="presParOf" srcId="{E2C6483B-B014-4F62-AB2B-D204CF4A6526}" destId="{0D9D7D21-0B38-4F70-89D2-7C1CAAA70581}" srcOrd="0" destOrd="0" presId="urn:microsoft.com/office/officeart/2016/7/layout/RepeatingBendingProcessNew"/>
    <dgm:cxn modelId="{3022E738-9DF3-4805-B122-5A02F5202012}" type="presParOf" srcId="{12613560-C39C-4C59-A9DC-DF13D1448FAA}" destId="{BB6ECCCE-42DC-4556-95D4-EC0A13707003}" srcOrd="14" destOrd="0" presId="urn:microsoft.com/office/officeart/2016/7/layout/RepeatingBendingProcessNew"/>
    <dgm:cxn modelId="{D843100C-667C-48F7-931F-0289742603A2}" type="presParOf" srcId="{12613560-C39C-4C59-A9DC-DF13D1448FAA}" destId="{2FF5B4C0-EC23-47EC-A5C4-A5EE21F5F6BE}" srcOrd="15" destOrd="0" presId="urn:microsoft.com/office/officeart/2016/7/layout/RepeatingBendingProcessNew"/>
    <dgm:cxn modelId="{BA91261B-CA76-4F64-9528-738EDE72262B}" type="presParOf" srcId="{2FF5B4C0-EC23-47EC-A5C4-A5EE21F5F6BE}" destId="{105D71F5-861C-4E4E-9A4F-0A19AC748790}" srcOrd="0" destOrd="0" presId="urn:microsoft.com/office/officeart/2016/7/layout/RepeatingBendingProcessNew"/>
    <dgm:cxn modelId="{D31208C2-8062-4797-A057-95159B367695}" type="presParOf" srcId="{12613560-C39C-4C59-A9DC-DF13D1448FAA}" destId="{66B8A652-9BF0-45DB-9C34-895CDB39E58E}" srcOrd="16" destOrd="0" presId="urn:microsoft.com/office/officeart/2016/7/layout/RepeatingBendingProcessNew"/>
    <dgm:cxn modelId="{E49F6B83-B655-4A32-81AF-22E15C57E8DF}" type="presParOf" srcId="{12613560-C39C-4C59-A9DC-DF13D1448FAA}" destId="{C677EB82-1FD2-4FD8-8133-89069893DC0D}" srcOrd="17" destOrd="0" presId="urn:microsoft.com/office/officeart/2016/7/layout/RepeatingBendingProcessNew"/>
    <dgm:cxn modelId="{304EF7A1-82AA-4047-B87C-AB2DBF29DDCC}" type="presParOf" srcId="{C677EB82-1FD2-4FD8-8133-89069893DC0D}" destId="{747F4B52-8A9B-44F1-AC2F-80B88F06DD01}" srcOrd="0" destOrd="0" presId="urn:microsoft.com/office/officeart/2016/7/layout/RepeatingBendingProcessNew"/>
    <dgm:cxn modelId="{0BC942B7-630C-4704-9B6A-F810B647F845}" type="presParOf" srcId="{12613560-C39C-4C59-A9DC-DF13D1448FAA}" destId="{2B09213C-AB1D-4F23-9233-837587C11561}" srcOrd="18" destOrd="0" presId="urn:microsoft.com/office/officeart/2016/7/layout/RepeatingBendingProcessNew"/>
    <dgm:cxn modelId="{0EF2E349-7F7F-4843-894D-9BA12DDE48A6}" type="presParOf" srcId="{12613560-C39C-4C59-A9DC-DF13D1448FAA}" destId="{3F652A2A-30A6-438F-B0CD-682443762B18}" srcOrd="19" destOrd="0" presId="urn:microsoft.com/office/officeart/2016/7/layout/RepeatingBendingProcessNew"/>
    <dgm:cxn modelId="{8D86083C-B2C7-4AF4-843F-C8BD18BBAD03}" type="presParOf" srcId="{3F652A2A-30A6-438F-B0CD-682443762B18}" destId="{F7A9973A-287D-4C89-9512-701FD979082E}" srcOrd="0" destOrd="0" presId="urn:microsoft.com/office/officeart/2016/7/layout/RepeatingBendingProcessNew"/>
    <dgm:cxn modelId="{CD1BCFF8-03A6-455B-8B92-2C25141DEAA2}" type="presParOf" srcId="{12613560-C39C-4C59-A9DC-DF13D1448FAA}" destId="{25D5A381-1799-4088-B1D7-CBFC64CF1AD0}" srcOrd="20" destOrd="0" presId="urn:microsoft.com/office/officeart/2016/7/layout/RepeatingBendingProcessNew"/>
    <dgm:cxn modelId="{DB388404-9ECE-42FE-9443-75692C565624}" type="presParOf" srcId="{12613560-C39C-4C59-A9DC-DF13D1448FAA}" destId="{23F2CA97-0DC6-4466-AC93-50595710323E}" srcOrd="21" destOrd="0" presId="urn:microsoft.com/office/officeart/2016/7/layout/RepeatingBendingProcessNew"/>
    <dgm:cxn modelId="{4281E88C-09F9-440A-AE74-556617CAA62B}" type="presParOf" srcId="{23F2CA97-0DC6-4466-AC93-50595710323E}" destId="{A1A18290-014C-4274-8DAE-6AC4044C6E47}" srcOrd="0" destOrd="0" presId="urn:microsoft.com/office/officeart/2016/7/layout/RepeatingBendingProcessNew"/>
    <dgm:cxn modelId="{81A63D7F-9FC4-4A54-80C5-554BAABBEE5D}" type="presParOf" srcId="{12613560-C39C-4C59-A9DC-DF13D1448FAA}" destId="{113D0409-13C8-4F5E-932D-4C144327AAAD}" srcOrd="22" destOrd="0" presId="urn:microsoft.com/office/officeart/2016/7/layout/RepeatingBendingProcessNew"/>
    <dgm:cxn modelId="{61DD7F99-2404-4AEF-A124-2220B9E9A94C}" type="presParOf" srcId="{12613560-C39C-4C59-A9DC-DF13D1448FAA}" destId="{E0C113F9-4267-4948-A37E-FF3D0055AE00}" srcOrd="23" destOrd="0" presId="urn:microsoft.com/office/officeart/2016/7/layout/RepeatingBendingProcessNew"/>
    <dgm:cxn modelId="{94083B79-0F09-4CCE-B8CD-32A7712E20E2}" type="presParOf" srcId="{E0C113F9-4267-4948-A37E-FF3D0055AE00}" destId="{1B3945D6-03F4-4743-87FC-AD590A22B8EB}" srcOrd="0" destOrd="0" presId="urn:microsoft.com/office/officeart/2016/7/layout/RepeatingBendingProcessNew"/>
    <dgm:cxn modelId="{6786038D-465A-4641-B553-80279709F1AB}" type="presParOf" srcId="{12613560-C39C-4C59-A9DC-DF13D1448FAA}" destId="{0FD9E775-CDC2-4CFC-B6B1-F9BEFB8F9C6F}" srcOrd="24" destOrd="0" presId="urn:microsoft.com/office/officeart/2016/7/layout/RepeatingBendingProcessNew"/>
    <dgm:cxn modelId="{F09A37E8-0F72-46F3-B589-E5935238522C}" type="presParOf" srcId="{12613560-C39C-4C59-A9DC-DF13D1448FAA}" destId="{6D507A0F-EE22-4A71-AB69-18DB1E15571B}" srcOrd="25" destOrd="0" presId="urn:microsoft.com/office/officeart/2016/7/layout/RepeatingBendingProcessNew"/>
    <dgm:cxn modelId="{885697FA-EB01-4132-B0DE-FD245E7627F4}" type="presParOf" srcId="{6D507A0F-EE22-4A71-AB69-18DB1E15571B}" destId="{A2748B52-71B1-4DB3-B7A3-1371C8D4621D}" srcOrd="0" destOrd="0" presId="urn:microsoft.com/office/officeart/2016/7/layout/RepeatingBendingProcessNew"/>
    <dgm:cxn modelId="{E839C0DC-63E0-4E0B-87B2-CB40C217849A}" type="presParOf" srcId="{12613560-C39C-4C59-A9DC-DF13D1448FAA}" destId="{17258A01-2194-4BBD-99B1-A414A887DF3E}" srcOrd="26" destOrd="0" presId="urn:microsoft.com/office/officeart/2016/7/layout/RepeatingBendingProcessNew"/>
    <dgm:cxn modelId="{4E39793C-EE9E-4662-B3F1-83F085228B5C}" type="presParOf" srcId="{12613560-C39C-4C59-A9DC-DF13D1448FAA}" destId="{912DF118-C031-4976-A2F7-2ADD4C0A3D55}" srcOrd="27" destOrd="0" presId="urn:microsoft.com/office/officeart/2016/7/layout/RepeatingBendingProcessNew"/>
    <dgm:cxn modelId="{B433F404-103A-4BE1-AC99-0D907FED37F1}" type="presParOf" srcId="{912DF118-C031-4976-A2F7-2ADD4C0A3D55}" destId="{4937EFB6-BC2B-4BF8-9B95-FA07F5198C94}" srcOrd="0" destOrd="0" presId="urn:microsoft.com/office/officeart/2016/7/layout/RepeatingBendingProcessNew"/>
    <dgm:cxn modelId="{F93EF324-C4C1-4864-AA4D-D9DF63AD14AC}" type="presParOf" srcId="{12613560-C39C-4C59-A9DC-DF13D1448FAA}" destId="{B12DEF77-94F3-4CD8-8E49-1C61E1E3D070}" srcOrd="28" destOrd="0" presId="urn:microsoft.com/office/officeart/2016/7/layout/RepeatingBendingProcessNew"/>
    <dgm:cxn modelId="{7D39E0A6-0409-43BF-A60A-8ACB47C83AC0}" type="presParOf" srcId="{12613560-C39C-4C59-A9DC-DF13D1448FAA}" destId="{0FB0B333-C4AD-41A1-9A8E-0FF4006AF05D}" srcOrd="29" destOrd="0" presId="urn:microsoft.com/office/officeart/2016/7/layout/RepeatingBendingProcessNew"/>
    <dgm:cxn modelId="{3BCC522D-2261-4B73-AEE2-EF30B65193B8}" type="presParOf" srcId="{0FB0B333-C4AD-41A1-9A8E-0FF4006AF05D}" destId="{171FC2DD-AE9B-4A9F-BE4A-76B21DDEAB23}" srcOrd="0" destOrd="0" presId="urn:microsoft.com/office/officeart/2016/7/layout/RepeatingBendingProcessNew"/>
    <dgm:cxn modelId="{3C6A01A8-11BC-473A-AE69-479050263840}" type="presParOf" srcId="{12613560-C39C-4C59-A9DC-DF13D1448FAA}" destId="{B80F3512-477B-45A9-AD76-8D44F07315F6}" srcOrd="3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633B13-04EE-4D5A-915C-40A650C7AE69}">
      <dsp:nvSpPr>
        <dsp:cNvPr id="0" name=""/>
        <dsp:cNvSpPr/>
      </dsp:nvSpPr>
      <dsp:spPr>
        <a:xfrm>
          <a:off x="1546933" y="272"/>
          <a:ext cx="3704672" cy="3704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l" defTabSz="622300">
            <a:lnSpc>
              <a:spcPct val="90000"/>
            </a:lnSpc>
            <a:spcBef>
              <a:spcPct val="0"/>
            </a:spcBef>
            <a:spcAft>
              <a:spcPct val="35000"/>
            </a:spcAft>
            <a:buNone/>
          </a:pPr>
          <a:r>
            <a:rPr lang="en-US" sz="1400" b="1" kern="1200"/>
            <a:t>INTRODUCTION</a:t>
          </a:r>
          <a:endParaRPr lang="en-US" sz="1400" kern="1200"/>
        </a:p>
        <a:p>
          <a:pPr marL="57150" lvl="1" indent="-57150" algn="l" defTabSz="488950">
            <a:lnSpc>
              <a:spcPct val="90000"/>
            </a:lnSpc>
            <a:spcBef>
              <a:spcPct val="0"/>
            </a:spcBef>
            <a:spcAft>
              <a:spcPct val="15000"/>
            </a:spcAft>
            <a:buChar char="•"/>
          </a:pPr>
          <a:r>
            <a:rPr lang="en-US" sz="1100" kern="1200"/>
            <a:t>Urban mobility serves as the backbone of economic productivity and is a critical component of modern "Smart City" infrastructure. It encompasses the complex systems and behavioral patterns through which residents navigate the built environment.</a:t>
          </a:r>
        </a:p>
        <a:p>
          <a:pPr marL="57150" lvl="1" indent="-57150" algn="l" defTabSz="488950">
            <a:lnSpc>
              <a:spcPct val="90000"/>
            </a:lnSpc>
            <a:spcBef>
              <a:spcPct val="0"/>
            </a:spcBef>
            <a:spcAft>
              <a:spcPct val="15000"/>
            </a:spcAft>
            <a:buChar char="•"/>
          </a:pPr>
          <a:r>
            <a:rPr lang="en-US" sz="1100" kern="1200"/>
            <a:t>As urban populations grow, the efficiency of these transportation systems becomes a critical challenge, as historical data shows that physical infrastructure expansion rarely keeps pace with exponential vehicle density.</a:t>
          </a:r>
        </a:p>
        <a:p>
          <a:pPr marL="57150" lvl="1" indent="-57150" algn="l" defTabSz="488950">
            <a:lnSpc>
              <a:spcPct val="90000"/>
            </a:lnSpc>
            <a:spcBef>
              <a:spcPct val="0"/>
            </a:spcBef>
            <a:spcAft>
              <a:spcPct val="15000"/>
            </a:spcAft>
            <a:buChar char="•"/>
          </a:pPr>
          <a:r>
            <a:rPr lang="en-US" sz="1100" kern="1200"/>
            <a:t>Currently, traffic operations are often conducted through centralized command centers utilizing fixed sensors and manual observation of CCTV feeds. This reliance on static traffic counts and manual oversight sets the stage for the problems of chronic congestion and systemic delays. </a:t>
          </a:r>
        </a:p>
        <a:p>
          <a:pPr marL="57150" lvl="1" indent="-57150" algn="l" defTabSz="488950">
            <a:lnSpc>
              <a:spcPct val="90000"/>
            </a:lnSpc>
            <a:spcBef>
              <a:spcPct val="0"/>
            </a:spcBef>
            <a:spcAft>
              <a:spcPct val="15000"/>
            </a:spcAft>
            <a:buChar char="•"/>
          </a:pPr>
          <a:r>
            <a:rPr lang="en-US" sz="1100" kern="1200"/>
            <a:t>This project focuses on the "pulse" of the city by analyzing large-scale mobility datasets—such as taxi and Uber records—at the intersection of Data Science and Urban Planning to modernize current operations.</a:t>
          </a:r>
        </a:p>
      </dsp:txBody>
      <dsp:txXfrm>
        <a:off x="1546933" y="272"/>
        <a:ext cx="3704672" cy="3704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0ED31-8218-4BF6-AA81-C27DCCC9C00A}">
      <dsp:nvSpPr>
        <dsp:cNvPr id="0" name=""/>
        <dsp:cNvSpPr/>
      </dsp:nvSpPr>
      <dsp:spPr>
        <a:xfrm>
          <a:off x="5558835" y="1355059"/>
          <a:ext cx="1040129" cy="91440"/>
        </a:xfrm>
        <a:custGeom>
          <a:avLst/>
          <a:gdLst/>
          <a:ahLst/>
          <a:cxnLst/>
          <a:rect l="0" t="0" r="0" b="0"/>
          <a:pathLst>
            <a:path>
              <a:moveTo>
                <a:pt x="0" y="45720"/>
              </a:moveTo>
              <a:lnTo>
                <a:pt x="104012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52131" y="1395426"/>
        <a:ext cx="53536" cy="10707"/>
      </dsp:txXfrm>
    </dsp:sp>
    <dsp:sp modelId="{EF57EF6C-B7BC-46E0-B3B3-4F0786B53465}">
      <dsp:nvSpPr>
        <dsp:cNvPr id="0" name=""/>
        <dsp:cNvSpPr/>
      </dsp:nvSpPr>
      <dsp:spPr>
        <a:xfrm>
          <a:off x="905291" y="4176"/>
          <a:ext cx="4655343" cy="27932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116" tIns="239448" rIns="228116" bIns="239448" numCol="1" spcCol="1270" anchor="ctr" anchorCtr="0">
          <a:noAutofit/>
        </a:bodyPr>
        <a:lstStyle/>
        <a:p>
          <a:pPr marL="0" lvl="0" indent="0" algn="ctr" defTabSz="622300">
            <a:lnSpc>
              <a:spcPct val="90000"/>
            </a:lnSpc>
            <a:spcBef>
              <a:spcPct val="0"/>
            </a:spcBef>
            <a:spcAft>
              <a:spcPct val="35000"/>
            </a:spcAft>
            <a:buNone/>
          </a:pPr>
          <a:r>
            <a:rPr lang="en-US" sz="1400" b="1" kern="1200"/>
            <a:t>General Objective</a:t>
          </a:r>
          <a:endParaRPr lang="en-US" sz="1400" kern="1200"/>
        </a:p>
      </dsp:txBody>
      <dsp:txXfrm>
        <a:off x="905291" y="4176"/>
        <a:ext cx="4655343" cy="2793206"/>
      </dsp:txXfrm>
    </dsp:sp>
    <dsp:sp modelId="{67D0197A-145A-47DA-B7CF-0A3CD4704C4A}">
      <dsp:nvSpPr>
        <dsp:cNvPr id="0" name=""/>
        <dsp:cNvSpPr/>
      </dsp:nvSpPr>
      <dsp:spPr>
        <a:xfrm>
          <a:off x="3232963" y="2795582"/>
          <a:ext cx="5726072" cy="1040129"/>
        </a:xfrm>
        <a:custGeom>
          <a:avLst/>
          <a:gdLst/>
          <a:ahLst/>
          <a:cxnLst/>
          <a:rect l="0" t="0" r="0" b="0"/>
          <a:pathLst>
            <a:path>
              <a:moveTo>
                <a:pt x="5726072" y="0"/>
              </a:moveTo>
              <a:lnTo>
                <a:pt x="5726072" y="537164"/>
              </a:lnTo>
              <a:lnTo>
                <a:pt x="0" y="537164"/>
              </a:lnTo>
              <a:lnTo>
                <a:pt x="0" y="1040129"/>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50366" y="3310293"/>
        <a:ext cx="291266" cy="10707"/>
      </dsp:txXfrm>
    </dsp:sp>
    <dsp:sp modelId="{9CCCE139-4939-4311-B3AE-049FFC34FE17}">
      <dsp:nvSpPr>
        <dsp:cNvPr id="0" name=""/>
        <dsp:cNvSpPr/>
      </dsp:nvSpPr>
      <dsp:spPr>
        <a:xfrm>
          <a:off x="6631364" y="4176"/>
          <a:ext cx="4655343" cy="27932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116" tIns="239448" rIns="228116" bIns="239448" numCol="1" spcCol="1270" anchor="ctr" anchorCtr="0">
          <a:noAutofit/>
        </a:bodyPr>
        <a:lstStyle/>
        <a:p>
          <a:pPr marL="0" lvl="0" indent="0" algn="ctr" defTabSz="622300">
            <a:lnSpc>
              <a:spcPct val="90000"/>
            </a:lnSpc>
            <a:spcBef>
              <a:spcPct val="0"/>
            </a:spcBef>
            <a:spcAft>
              <a:spcPct val="35000"/>
            </a:spcAft>
            <a:buNone/>
          </a:pPr>
          <a:r>
            <a:rPr lang="en-US" sz="1400" kern="1200"/>
            <a:t>To analyze urban mobility patterns in Nairobi and develop a predictive data-driven model to identify, visualize, and propose mitigation strategies for chronic traffic bottlenecks.</a:t>
          </a:r>
        </a:p>
      </dsp:txBody>
      <dsp:txXfrm>
        <a:off x="6631364" y="4176"/>
        <a:ext cx="4655343" cy="2793206"/>
      </dsp:txXfrm>
    </dsp:sp>
    <dsp:sp modelId="{CE4EBEC9-973B-4DC5-B626-EC1032798A86}">
      <dsp:nvSpPr>
        <dsp:cNvPr id="0" name=""/>
        <dsp:cNvSpPr/>
      </dsp:nvSpPr>
      <dsp:spPr>
        <a:xfrm>
          <a:off x="5558835" y="5218995"/>
          <a:ext cx="1040129" cy="91440"/>
        </a:xfrm>
        <a:custGeom>
          <a:avLst/>
          <a:gdLst/>
          <a:ahLst/>
          <a:cxnLst/>
          <a:rect l="0" t="0" r="0" b="0"/>
          <a:pathLst>
            <a:path>
              <a:moveTo>
                <a:pt x="0" y="45720"/>
              </a:moveTo>
              <a:lnTo>
                <a:pt x="104012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52131" y="5259361"/>
        <a:ext cx="53536" cy="10707"/>
      </dsp:txXfrm>
    </dsp:sp>
    <dsp:sp modelId="{7A7D64F6-0A2F-41AD-B0E6-91DC47F3B97A}">
      <dsp:nvSpPr>
        <dsp:cNvPr id="0" name=""/>
        <dsp:cNvSpPr/>
      </dsp:nvSpPr>
      <dsp:spPr>
        <a:xfrm>
          <a:off x="905291" y="3868112"/>
          <a:ext cx="4655343" cy="27932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116" tIns="239448" rIns="228116" bIns="239448" numCol="1" spcCol="1270" anchor="t" anchorCtr="0">
          <a:noAutofit/>
        </a:bodyPr>
        <a:lstStyle/>
        <a:p>
          <a:pPr marL="0" lvl="0" indent="0" algn="l" defTabSz="622300">
            <a:lnSpc>
              <a:spcPct val="90000"/>
            </a:lnSpc>
            <a:spcBef>
              <a:spcPct val="0"/>
            </a:spcBef>
            <a:spcAft>
              <a:spcPct val="35000"/>
            </a:spcAft>
            <a:buNone/>
          </a:pPr>
          <a:r>
            <a:rPr lang="en-US" sz="1400" b="1" kern="1200"/>
            <a:t>Specific Objectives:</a:t>
          </a:r>
          <a:endParaRPr lang="en-US" sz="1400" kern="1200"/>
        </a:p>
        <a:p>
          <a:pPr marL="57150" lvl="1" indent="-57150" algn="l" defTabSz="488950">
            <a:lnSpc>
              <a:spcPct val="90000"/>
            </a:lnSpc>
            <a:spcBef>
              <a:spcPct val="0"/>
            </a:spcBef>
            <a:spcAft>
              <a:spcPct val="15000"/>
            </a:spcAft>
            <a:buChar char="•"/>
          </a:pPr>
          <a:r>
            <a:rPr lang="en-US" sz="1100" kern="1200"/>
            <a:t>To Map Density: To perform geospatial mapping of traffic density across Nairobi taxi zones using Geographic Information Systems (GIS) to identify high-congestion clusters.</a:t>
          </a:r>
        </a:p>
        <a:p>
          <a:pPr marL="57150" lvl="1" indent="-57150" algn="l" defTabSz="488950">
            <a:lnSpc>
              <a:spcPct val="90000"/>
            </a:lnSpc>
            <a:spcBef>
              <a:spcPct val="0"/>
            </a:spcBef>
            <a:spcAft>
              <a:spcPct val="15000"/>
            </a:spcAft>
            <a:buChar char="•"/>
          </a:pPr>
          <a:r>
            <a:rPr lang="en-US" sz="1100" kern="1200"/>
            <a:t>To Analyze External Factors: To quantify the impact of specific weather events on traffic flow and ride-sharing demand through correlation analysis and hypothesis testing.</a:t>
          </a:r>
        </a:p>
        <a:p>
          <a:pPr marL="57150" lvl="1" indent="-57150" algn="l" defTabSz="488950">
            <a:lnSpc>
              <a:spcPct val="90000"/>
            </a:lnSpc>
            <a:spcBef>
              <a:spcPct val="0"/>
            </a:spcBef>
            <a:spcAft>
              <a:spcPct val="15000"/>
            </a:spcAft>
            <a:buChar char="•"/>
          </a:pPr>
          <a:r>
            <a:rPr lang="en-US" sz="1100" kern="1200"/>
            <a:t>To Develop Predictive Models: To build and train a machine learning model (e.g., LSTM or Random Forest) to forecast traffic deviations with an accuracy of at least 85%.</a:t>
          </a:r>
        </a:p>
        <a:p>
          <a:pPr marL="57150" lvl="1" indent="-57150" algn="l" defTabSz="488950">
            <a:lnSpc>
              <a:spcPct val="90000"/>
            </a:lnSpc>
            <a:spcBef>
              <a:spcPct val="0"/>
            </a:spcBef>
            <a:spcAft>
              <a:spcPct val="15000"/>
            </a:spcAft>
            <a:buChar char="•"/>
          </a:pPr>
          <a:r>
            <a:rPr lang="en-US" sz="1100" kern="1200"/>
            <a:t>To Identify Infrastructure Gaps: To evaluate the relationship between ride-sharing demand peaks and public transport limitations to recommend dynamic optimization strategies.</a:t>
          </a:r>
        </a:p>
      </dsp:txBody>
      <dsp:txXfrm>
        <a:off x="905291" y="3868112"/>
        <a:ext cx="4655343" cy="2793206"/>
      </dsp:txXfrm>
    </dsp:sp>
    <dsp:sp modelId="{FD50CCAA-FFC7-448F-A11D-3F09F70B09D0}">
      <dsp:nvSpPr>
        <dsp:cNvPr id="0" name=""/>
        <dsp:cNvSpPr/>
      </dsp:nvSpPr>
      <dsp:spPr>
        <a:xfrm>
          <a:off x="6631364" y="3868112"/>
          <a:ext cx="4655343" cy="27932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116" tIns="239448" rIns="228116" bIns="239448" numCol="1" spcCol="1270" anchor="t" anchorCtr="0">
          <a:noAutofit/>
        </a:bodyPr>
        <a:lstStyle/>
        <a:p>
          <a:pPr marL="0" lvl="0" indent="0" algn="l" defTabSz="622300">
            <a:lnSpc>
              <a:spcPct val="90000"/>
            </a:lnSpc>
            <a:spcBef>
              <a:spcPct val="0"/>
            </a:spcBef>
            <a:spcAft>
              <a:spcPct val="35000"/>
            </a:spcAft>
            <a:buNone/>
          </a:pPr>
          <a:r>
            <a:rPr lang="en-US" sz="1400" b="1" kern="1200"/>
            <a:t>RESEARCH QUESTIONS</a:t>
          </a:r>
          <a:endParaRPr lang="en-US" sz="1400" kern="1200"/>
        </a:p>
        <a:p>
          <a:pPr marL="57150" lvl="1" indent="-57150" algn="l" defTabSz="488950">
            <a:lnSpc>
              <a:spcPct val="90000"/>
            </a:lnSpc>
            <a:spcBef>
              <a:spcPct val="0"/>
            </a:spcBef>
            <a:spcAft>
              <a:spcPct val="15000"/>
            </a:spcAft>
            <a:buChar char="•"/>
          </a:pPr>
          <a:r>
            <a:rPr lang="en-US" sz="1100" kern="1200"/>
            <a:t>Geospatial Analysis: Which specific intersections and taxi zones in Nairobi constitute the primary bottlenecks during peak commuting hours (06:00–09:00 and 16:00–19:00)?</a:t>
          </a:r>
        </a:p>
        <a:p>
          <a:pPr marL="57150" lvl="1" indent="-57150" algn="l" defTabSz="488950">
            <a:lnSpc>
              <a:spcPct val="90000"/>
            </a:lnSpc>
            <a:spcBef>
              <a:spcPct val="0"/>
            </a:spcBef>
            <a:spcAft>
              <a:spcPct val="15000"/>
            </a:spcAft>
            <a:buChar char="•"/>
          </a:pPr>
          <a:r>
            <a:rPr lang="en-US" sz="1100" kern="1200"/>
            <a:t>Weather Impact: To what degree do extreme weather conditions (e.g., heavy rainfall) deviate traffic patterns and ride-sharing surge pricing compared to baseline clear-weather days? </a:t>
          </a:r>
        </a:p>
        <a:p>
          <a:pPr marL="57150" lvl="1" indent="-57150" algn="l" defTabSz="488950">
            <a:lnSpc>
              <a:spcPct val="90000"/>
            </a:lnSpc>
            <a:spcBef>
              <a:spcPct val="0"/>
            </a:spcBef>
            <a:spcAft>
              <a:spcPct val="15000"/>
            </a:spcAft>
            <a:buChar char="•"/>
          </a:pPr>
          <a:r>
            <a:rPr lang="en-US" sz="1100" kern="1200" dirty="0"/>
            <a:t>Predictive Validity: How effectively can historical ride-sharing data be used to predict  demand in areas currently underserved by formal public transport infrastructure?</a:t>
          </a:r>
        </a:p>
      </dsp:txBody>
      <dsp:txXfrm>
        <a:off x="6631364" y="3868112"/>
        <a:ext cx="4655343" cy="2793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0DEF66-61FC-4BC5-84EC-B09737D60989}">
      <dsp:nvSpPr>
        <dsp:cNvPr id="0" name=""/>
        <dsp:cNvSpPr/>
      </dsp:nvSpPr>
      <dsp:spPr>
        <a:xfrm>
          <a:off x="3033312" y="609032"/>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54354" y="652262"/>
        <a:ext cx="24878" cy="4980"/>
      </dsp:txXfrm>
    </dsp:sp>
    <dsp:sp modelId="{ED3C4540-80FB-4397-832E-EA9D1FFB1DD4}">
      <dsp:nvSpPr>
        <dsp:cNvPr id="0" name=""/>
        <dsp:cNvSpPr/>
      </dsp:nvSpPr>
      <dsp:spPr>
        <a:xfrm>
          <a:off x="871798" y="5758"/>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b="1" kern="1200"/>
            <a:t>3.1 METHODOLOGY</a:t>
          </a:r>
          <a:endParaRPr lang="en-US" sz="1200" kern="1200"/>
        </a:p>
      </dsp:txBody>
      <dsp:txXfrm>
        <a:off x="871798" y="5758"/>
        <a:ext cx="2163314" cy="1297988"/>
      </dsp:txXfrm>
    </dsp:sp>
    <dsp:sp modelId="{95590387-7B9B-4C4C-BCD9-E3AFA8A0E64B}">
      <dsp:nvSpPr>
        <dsp:cNvPr id="0" name=""/>
        <dsp:cNvSpPr/>
      </dsp:nvSpPr>
      <dsp:spPr>
        <a:xfrm>
          <a:off x="5694188" y="609032"/>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15230" y="652262"/>
        <a:ext cx="24878" cy="4980"/>
      </dsp:txXfrm>
    </dsp:sp>
    <dsp:sp modelId="{BD2C73BB-89A0-4F0E-A6EE-F4A8BD6E5F22}">
      <dsp:nvSpPr>
        <dsp:cNvPr id="0" name=""/>
        <dsp:cNvSpPr/>
      </dsp:nvSpPr>
      <dsp:spPr>
        <a:xfrm>
          <a:off x="3532674" y="5758"/>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a:t>The project will follow the </a:t>
          </a:r>
          <a:r>
            <a:rPr lang="en-US" sz="1200" b="1" kern="1200"/>
            <a:t>CRISP-DM</a:t>
          </a:r>
          <a:r>
            <a:rPr lang="en-US" sz="1200" kern="1200"/>
            <a:t> methodology, ensuring a structured approach from data collection to system evaluation.</a:t>
          </a:r>
        </a:p>
      </dsp:txBody>
      <dsp:txXfrm>
        <a:off x="3532674" y="5758"/>
        <a:ext cx="2163314" cy="1297988"/>
      </dsp:txXfrm>
    </dsp:sp>
    <dsp:sp modelId="{1D2EA8DC-6C65-4DB8-994E-116FDCE3914C}">
      <dsp:nvSpPr>
        <dsp:cNvPr id="0" name=""/>
        <dsp:cNvSpPr/>
      </dsp:nvSpPr>
      <dsp:spPr>
        <a:xfrm>
          <a:off x="8355064" y="609032"/>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76106" y="652262"/>
        <a:ext cx="24878" cy="4980"/>
      </dsp:txXfrm>
    </dsp:sp>
    <dsp:sp modelId="{6595D8A8-543E-4E58-8326-333EB16A54AF}">
      <dsp:nvSpPr>
        <dsp:cNvPr id="0" name=""/>
        <dsp:cNvSpPr/>
      </dsp:nvSpPr>
      <dsp:spPr>
        <a:xfrm>
          <a:off x="6193550" y="5758"/>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a:t>1. Business Understanding -defining the problem from a research and planning perspective.</a:t>
          </a:r>
        </a:p>
      </dsp:txBody>
      <dsp:txXfrm>
        <a:off x="6193550" y="5758"/>
        <a:ext cx="2163314" cy="1297988"/>
      </dsp:txXfrm>
    </dsp:sp>
    <dsp:sp modelId="{5334348F-3F22-49F0-941C-B53608985137}">
      <dsp:nvSpPr>
        <dsp:cNvPr id="0" name=""/>
        <dsp:cNvSpPr/>
      </dsp:nvSpPr>
      <dsp:spPr>
        <a:xfrm>
          <a:off x="1953455" y="1301947"/>
          <a:ext cx="7982628" cy="466962"/>
        </a:xfrm>
        <a:custGeom>
          <a:avLst/>
          <a:gdLst/>
          <a:ahLst/>
          <a:cxnLst/>
          <a:rect l="0" t="0" r="0" b="0"/>
          <a:pathLst>
            <a:path>
              <a:moveTo>
                <a:pt x="7982628" y="0"/>
              </a:moveTo>
              <a:lnTo>
                <a:pt x="7982628" y="250581"/>
              </a:lnTo>
              <a:lnTo>
                <a:pt x="0" y="250581"/>
              </a:lnTo>
              <a:lnTo>
                <a:pt x="0" y="466962"/>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744816" y="1532938"/>
        <a:ext cx="399906" cy="4980"/>
      </dsp:txXfrm>
    </dsp:sp>
    <dsp:sp modelId="{FF94D84A-33CF-4C9F-9B62-EB10BEF5C996}">
      <dsp:nvSpPr>
        <dsp:cNvPr id="0" name=""/>
        <dsp:cNvSpPr/>
      </dsp:nvSpPr>
      <dsp:spPr>
        <a:xfrm>
          <a:off x="8854426" y="5758"/>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a:t>2. Data Understanding - assess raw data’s  quality and initial patterns.</a:t>
          </a:r>
        </a:p>
      </dsp:txBody>
      <dsp:txXfrm>
        <a:off x="8854426" y="5758"/>
        <a:ext cx="2163314" cy="1297988"/>
      </dsp:txXfrm>
    </dsp:sp>
    <dsp:sp modelId="{76D5F351-C270-41E4-87AB-F7032E052A8C}">
      <dsp:nvSpPr>
        <dsp:cNvPr id="0" name=""/>
        <dsp:cNvSpPr/>
      </dsp:nvSpPr>
      <dsp:spPr>
        <a:xfrm>
          <a:off x="3033312" y="2404583"/>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54354" y="2447813"/>
        <a:ext cx="24878" cy="4980"/>
      </dsp:txXfrm>
    </dsp:sp>
    <dsp:sp modelId="{A03F9499-5A72-408C-87D0-A667D782C725}">
      <dsp:nvSpPr>
        <dsp:cNvPr id="0" name=""/>
        <dsp:cNvSpPr/>
      </dsp:nvSpPr>
      <dsp:spPr>
        <a:xfrm>
          <a:off x="871798" y="1801309"/>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a:t>3. Data Preparation -transforms raw data into a format suitable for modeling.</a:t>
          </a:r>
        </a:p>
      </dsp:txBody>
      <dsp:txXfrm>
        <a:off x="871798" y="1801309"/>
        <a:ext cx="2163314" cy="1297988"/>
      </dsp:txXfrm>
    </dsp:sp>
    <dsp:sp modelId="{B1084173-0921-4ABE-A810-F8F37D471A81}">
      <dsp:nvSpPr>
        <dsp:cNvPr id="0" name=""/>
        <dsp:cNvSpPr/>
      </dsp:nvSpPr>
      <dsp:spPr>
        <a:xfrm>
          <a:off x="5694188" y="2404583"/>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15230" y="2447813"/>
        <a:ext cx="24878" cy="4980"/>
      </dsp:txXfrm>
    </dsp:sp>
    <dsp:sp modelId="{EF160CAB-C604-4CD8-9BFC-930A61C523B3}">
      <dsp:nvSpPr>
        <dsp:cNvPr id="0" name=""/>
        <dsp:cNvSpPr/>
      </dsp:nvSpPr>
      <dsp:spPr>
        <a:xfrm>
          <a:off x="3532674" y="1801309"/>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a:t>4. Modeling -apply mathematical algorithms to my cleaned dataset.</a:t>
          </a:r>
        </a:p>
      </dsp:txBody>
      <dsp:txXfrm>
        <a:off x="3532674" y="1801309"/>
        <a:ext cx="2163314" cy="1297988"/>
      </dsp:txXfrm>
    </dsp:sp>
    <dsp:sp modelId="{E2C6483B-B014-4F62-AB2B-D204CF4A6526}">
      <dsp:nvSpPr>
        <dsp:cNvPr id="0" name=""/>
        <dsp:cNvSpPr/>
      </dsp:nvSpPr>
      <dsp:spPr>
        <a:xfrm>
          <a:off x="8355064" y="2404583"/>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76106" y="2447813"/>
        <a:ext cx="24878" cy="4980"/>
      </dsp:txXfrm>
    </dsp:sp>
    <dsp:sp modelId="{DAA87A46-DD71-426F-8C1C-C66FD86BC416}">
      <dsp:nvSpPr>
        <dsp:cNvPr id="0" name=""/>
        <dsp:cNvSpPr/>
      </dsp:nvSpPr>
      <dsp:spPr>
        <a:xfrm>
          <a:off x="6193550" y="1801309"/>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a:t>5. Evaluation -if the model truly meets my project's objectives.</a:t>
          </a:r>
        </a:p>
      </dsp:txBody>
      <dsp:txXfrm>
        <a:off x="6193550" y="1801309"/>
        <a:ext cx="2163314" cy="1297988"/>
      </dsp:txXfrm>
    </dsp:sp>
    <dsp:sp modelId="{2FF5B4C0-EC23-47EC-A5C4-A5EE21F5F6BE}">
      <dsp:nvSpPr>
        <dsp:cNvPr id="0" name=""/>
        <dsp:cNvSpPr/>
      </dsp:nvSpPr>
      <dsp:spPr>
        <a:xfrm>
          <a:off x="1953455" y="3097497"/>
          <a:ext cx="7982628" cy="466962"/>
        </a:xfrm>
        <a:custGeom>
          <a:avLst/>
          <a:gdLst/>
          <a:ahLst/>
          <a:cxnLst/>
          <a:rect l="0" t="0" r="0" b="0"/>
          <a:pathLst>
            <a:path>
              <a:moveTo>
                <a:pt x="7982628" y="0"/>
              </a:moveTo>
              <a:lnTo>
                <a:pt x="7982628" y="250581"/>
              </a:lnTo>
              <a:lnTo>
                <a:pt x="0" y="250581"/>
              </a:lnTo>
              <a:lnTo>
                <a:pt x="0" y="466962"/>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744816" y="3328488"/>
        <a:ext cx="399906" cy="4980"/>
      </dsp:txXfrm>
    </dsp:sp>
    <dsp:sp modelId="{BB6ECCCE-42DC-4556-95D4-EC0A13707003}">
      <dsp:nvSpPr>
        <dsp:cNvPr id="0" name=""/>
        <dsp:cNvSpPr/>
      </dsp:nvSpPr>
      <dsp:spPr>
        <a:xfrm>
          <a:off x="8854426" y="1801309"/>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a:t>6. Deployment -putting my  findings into a usable format.</a:t>
          </a:r>
        </a:p>
      </dsp:txBody>
      <dsp:txXfrm>
        <a:off x="8854426" y="1801309"/>
        <a:ext cx="2163314" cy="1297988"/>
      </dsp:txXfrm>
    </dsp:sp>
    <dsp:sp modelId="{C677EB82-1FD2-4FD8-8133-89069893DC0D}">
      <dsp:nvSpPr>
        <dsp:cNvPr id="0" name=""/>
        <dsp:cNvSpPr/>
      </dsp:nvSpPr>
      <dsp:spPr>
        <a:xfrm>
          <a:off x="3033312" y="4200134"/>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54354" y="4243364"/>
        <a:ext cx="24878" cy="4980"/>
      </dsp:txXfrm>
    </dsp:sp>
    <dsp:sp modelId="{66B8A652-9BF0-45DB-9C34-895CDB39E58E}">
      <dsp:nvSpPr>
        <dsp:cNvPr id="0" name=""/>
        <dsp:cNvSpPr/>
      </dsp:nvSpPr>
      <dsp:spPr>
        <a:xfrm>
          <a:off x="871798" y="3596860"/>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b="1" kern="1200"/>
            <a:t>MODELS FOR ANALYSIS</a:t>
          </a:r>
          <a:endParaRPr lang="en-US" sz="1200" kern="1200"/>
        </a:p>
      </dsp:txBody>
      <dsp:txXfrm>
        <a:off x="871798" y="3596860"/>
        <a:ext cx="2163314" cy="1297988"/>
      </dsp:txXfrm>
    </dsp:sp>
    <dsp:sp modelId="{3F652A2A-30A6-438F-B0CD-682443762B18}">
      <dsp:nvSpPr>
        <dsp:cNvPr id="0" name=""/>
        <dsp:cNvSpPr/>
      </dsp:nvSpPr>
      <dsp:spPr>
        <a:xfrm>
          <a:off x="5694188" y="4200134"/>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15230" y="4243364"/>
        <a:ext cx="24878" cy="4980"/>
      </dsp:txXfrm>
    </dsp:sp>
    <dsp:sp modelId="{2B09213C-AB1D-4F23-9233-837587C11561}">
      <dsp:nvSpPr>
        <dsp:cNvPr id="0" name=""/>
        <dsp:cNvSpPr/>
      </dsp:nvSpPr>
      <dsp:spPr>
        <a:xfrm>
          <a:off x="3532674" y="3596860"/>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b="1" kern="1200"/>
            <a:t>LSTM (Long Short-Term Memory):</a:t>
          </a:r>
          <a:r>
            <a:rPr lang="en-US" sz="1200" kern="1200"/>
            <a:t> To handle the time-series nature of traffic flow, predicting future congestion based on historical sequences.</a:t>
          </a:r>
        </a:p>
      </dsp:txBody>
      <dsp:txXfrm>
        <a:off x="3532674" y="3596860"/>
        <a:ext cx="2163314" cy="1297988"/>
      </dsp:txXfrm>
    </dsp:sp>
    <dsp:sp modelId="{23F2CA97-0DC6-4466-AC93-50595710323E}">
      <dsp:nvSpPr>
        <dsp:cNvPr id="0" name=""/>
        <dsp:cNvSpPr/>
      </dsp:nvSpPr>
      <dsp:spPr>
        <a:xfrm>
          <a:off x="8355064" y="4200134"/>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76106" y="4243364"/>
        <a:ext cx="24878" cy="4980"/>
      </dsp:txXfrm>
    </dsp:sp>
    <dsp:sp modelId="{25D5A381-1799-4088-B1D7-CBFC64CF1AD0}">
      <dsp:nvSpPr>
        <dsp:cNvPr id="0" name=""/>
        <dsp:cNvSpPr/>
      </dsp:nvSpPr>
      <dsp:spPr>
        <a:xfrm>
          <a:off x="6193550" y="3596860"/>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b="1" kern="1200"/>
            <a:t>Random Forest Regressor:</a:t>
          </a:r>
          <a:r>
            <a:rPr lang="en-US" sz="1200" kern="1200"/>
            <a:t> To test my hypothesis regarding weather; this model is excellent for determining the feature importance of variables like rainfall and temperature on traffic speed.</a:t>
          </a:r>
        </a:p>
      </dsp:txBody>
      <dsp:txXfrm>
        <a:off x="6193550" y="3596860"/>
        <a:ext cx="2163314" cy="1297988"/>
      </dsp:txXfrm>
    </dsp:sp>
    <dsp:sp modelId="{E0C113F9-4267-4948-A37E-FF3D0055AE00}">
      <dsp:nvSpPr>
        <dsp:cNvPr id="0" name=""/>
        <dsp:cNvSpPr/>
      </dsp:nvSpPr>
      <dsp:spPr>
        <a:xfrm>
          <a:off x="1953455" y="4893048"/>
          <a:ext cx="7982628" cy="466962"/>
        </a:xfrm>
        <a:custGeom>
          <a:avLst/>
          <a:gdLst/>
          <a:ahLst/>
          <a:cxnLst/>
          <a:rect l="0" t="0" r="0" b="0"/>
          <a:pathLst>
            <a:path>
              <a:moveTo>
                <a:pt x="7982628" y="0"/>
              </a:moveTo>
              <a:lnTo>
                <a:pt x="7982628" y="250581"/>
              </a:lnTo>
              <a:lnTo>
                <a:pt x="0" y="250581"/>
              </a:lnTo>
              <a:lnTo>
                <a:pt x="0" y="466962"/>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744816" y="5124039"/>
        <a:ext cx="399906" cy="4980"/>
      </dsp:txXfrm>
    </dsp:sp>
    <dsp:sp modelId="{113D0409-13C8-4F5E-932D-4C144327AAAD}">
      <dsp:nvSpPr>
        <dsp:cNvPr id="0" name=""/>
        <dsp:cNvSpPr/>
      </dsp:nvSpPr>
      <dsp:spPr>
        <a:xfrm>
          <a:off x="8854426" y="3596860"/>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b="1" kern="1200"/>
            <a:t>K-Means Clustering:</a:t>
          </a:r>
          <a:r>
            <a:rPr lang="en-US" sz="1200" kern="1200"/>
            <a:t> To segment Nairobi into "mobility zones" based on taxi pick-up/drop-off density.</a:t>
          </a:r>
        </a:p>
      </dsp:txBody>
      <dsp:txXfrm>
        <a:off x="8854426" y="3596860"/>
        <a:ext cx="2163314" cy="1297988"/>
      </dsp:txXfrm>
    </dsp:sp>
    <dsp:sp modelId="{6D507A0F-EE22-4A71-AB69-18DB1E15571B}">
      <dsp:nvSpPr>
        <dsp:cNvPr id="0" name=""/>
        <dsp:cNvSpPr/>
      </dsp:nvSpPr>
      <dsp:spPr>
        <a:xfrm>
          <a:off x="3033312" y="5995685"/>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54354" y="6038914"/>
        <a:ext cx="24878" cy="4980"/>
      </dsp:txXfrm>
    </dsp:sp>
    <dsp:sp modelId="{0FD9E775-CDC2-4CFC-B6B1-F9BEFB8F9C6F}">
      <dsp:nvSpPr>
        <dsp:cNvPr id="0" name=""/>
        <dsp:cNvSpPr/>
      </dsp:nvSpPr>
      <dsp:spPr>
        <a:xfrm>
          <a:off x="871798" y="5392410"/>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b="1" kern="1200"/>
            <a:t>TOOLS &amp; TECHNOLOGIES</a:t>
          </a:r>
          <a:endParaRPr lang="en-US" sz="1200" kern="1200"/>
        </a:p>
      </dsp:txBody>
      <dsp:txXfrm>
        <a:off x="871798" y="5392410"/>
        <a:ext cx="2163314" cy="1297988"/>
      </dsp:txXfrm>
    </dsp:sp>
    <dsp:sp modelId="{912DF118-C031-4976-A2F7-2ADD4C0A3D55}">
      <dsp:nvSpPr>
        <dsp:cNvPr id="0" name=""/>
        <dsp:cNvSpPr/>
      </dsp:nvSpPr>
      <dsp:spPr>
        <a:xfrm>
          <a:off x="5694188" y="5995685"/>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15230" y="6038914"/>
        <a:ext cx="24878" cy="4980"/>
      </dsp:txXfrm>
    </dsp:sp>
    <dsp:sp modelId="{17258A01-2194-4BBD-99B1-A414A887DF3E}">
      <dsp:nvSpPr>
        <dsp:cNvPr id="0" name=""/>
        <dsp:cNvSpPr/>
      </dsp:nvSpPr>
      <dsp:spPr>
        <a:xfrm>
          <a:off x="3532674" y="5392410"/>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dirty="0"/>
            <a:t>Data Sources: Taxi Movement (Nairobi), city specific open data portals(Nairobi).</a:t>
          </a:r>
        </a:p>
      </dsp:txBody>
      <dsp:txXfrm>
        <a:off x="3532674" y="5392410"/>
        <a:ext cx="2163314" cy="1297988"/>
      </dsp:txXfrm>
    </dsp:sp>
    <dsp:sp modelId="{0FB0B333-C4AD-41A1-9A8E-0FF4006AF05D}">
      <dsp:nvSpPr>
        <dsp:cNvPr id="0" name=""/>
        <dsp:cNvSpPr/>
      </dsp:nvSpPr>
      <dsp:spPr>
        <a:xfrm>
          <a:off x="8355064" y="5995685"/>
          <a:ext cx="466962" cy="91440"/>
        </a:xfrm>
        <a:custGeom>
          <a:avLst/>
          <a:gdLst/>
          <a:ahLst/>
          <a:cxnLst/>
          <a:rect l="0" t="0" r="0" b="0"/>
          <a:pathLst>
            <a:path>
              <a:moveTo>
                <a:pt x="0" y="45720"/>
              </a:moveTo>
              <a:lnTo>
                <a:pt x="46696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76106" y="6038914"/>
        <a:ext cx="24878" cy="4980"/>
      </dsp:txXfrm>
    </dsp:sp>
    <dsp:sp modelId="{B12DEF77-94F3-4CD8-8E49-1C61E1E3D070}">
      <dsp:nvSpPr>
        <dsp:cNvPr id="0" name=""/>
        <dsp:cNvSpPr/>
      </dsp:nvSpPr>
      <dsp:spPr>
        <a:xfrm>
          <a:off x="6193550" y="5392410"/>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a:t>Libraries: Scikit-learn (Modeling), GeoPandas (Spatial analysis and mapping), Matplotlib/Seaborn (Visualization).</a:t>
          </a:r>
        </a:p>
      </dsp:txBody>
      <dsp:txXfrm>
        <a:off x="6193550" y="5392410"/>
        <a:ext cx="2163314" cy="1297988"/>
      </dsp:txXfrm>
    </dsp:sp>
    <dsp:sp modelId="{B80F3512-477B-45A9-AD76-8D44F07315F6}">
      <dsp:nvSpPr>
        <dsp:cNvPr id="0" name=""/>
        <dsp:cNvSpPr/>
      </dsp:nvSpPr>
      <dsp:spPr>
        <a:xfrm>
          <a:off x="8854426" y="5392410"/>
          <a:ext cx="2163314" cy="12979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004" tIns="111270" rIns="106004" bIns="111270" numCol="1" spcCol="1270" anchor="ctr" anchorCtr="0">
          <a:noAutofit/>
        </a:bodyPr>
        <a:lstStyle/>
        <a:p>
          <a:pPr marL="0" lvl="0" indent="0" algn="ctr" defTabSz="533400">
            <a:lnSpc>
              <a:spcPct val="90000"/>
            </a:lnSpc>
            <a:spcBef>
              <a:spcPct val="0"/>
            </a:spcBef>
            <a:spcAft>
              <a:spcPct val="35000"/>
            </a:spcAft>
            <a:buNone/>
          </a:pPr>
          <a:r>
            <a:rPr lang="en-US" sz="1200" kern="1200"/>
            <a:t>Visualization: Interactive maps and dashboards.</a:t>
          </a:r>
        </a:p>
      </dsp:txBody>
      <dsp:txXfrm>
        <a:off x="8854426" y="5392410"/>
        <a:ext cx="2163314" cy="1297988"/>
      </dsp:txXfrm>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1AD9A-9749-3049-72C0-915B1B8637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F78B08-1F40-749D-4602-3FB78F6E25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58F19A-D5A0-D1FC-C7EF-35A3D65327C9}"/>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5" name="Footer Placeholder 4">
            <a:extLst>
              <a:ext uri="{FF2B5EF4-FFF2-40B4-BE49-F238E27FC236}">
                <a16:creationId xmlns:a16="http://schemas.microsoft.com/office/drawing/2014/main" id="{56F19FF7-A858-102B-04BA-CB31F369DE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D0ECE0-63F9-45B4-3378-6FB2BD26EB37}"/>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843000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ACEA1-66D6-2D11-FA9C-7AD51051F9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DC92FE-935B-B592-955B-2F09591703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6E3AC8-DA2F-95D6-7DF1-113798370B5B}"/>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5" name="Footer Placeholder 4">
            <a:extLst>
              <a:ext uri="{FF2B5EF4-FFF2-40B4-BE49-F238E27FC236}">
                <a16:creationId xmlns:a16="http://schemas.microsoft.com/office/drawing/2014/main" id="{DD0419B1-273F-724D-A327-47C426FD96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1D476-E0AB-DB5F-E2D8-C8CFC872C594}"/>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3989769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53408-2E40-36E0-4A5D-ECA679B2C8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4A9A3A-90C3-A0C0-8C96-41A7AE1BAC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6E6408-286E-633E-02AC-682853FA2874}"/>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5" name="Footer Placeholder 4">
            <a:extLst>
              <a:ext uri="{FF2B5EF4-FFF2-40B4-BE49-F238E27FC236}">
                <a16:creationId xmlns:a16="http://schemas.microsoft.com/office/drawing/2014/main" id="{EE8D14F6-7FA4-35B3-2A0A-07DFC27D35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ED44CD-2879-D546-79D1-74AAC9CF741E}"/>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1798737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BC65D-963E-A90F-21F2-6DCB8A56F0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FF09B5-AFE9-67DC-7B71-3FBD66DA48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1A50EB-B741-BEAA-FDE7-7852564133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D382D1-A413-8FD0-B736-DEC69FCF258F}"/>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6" name="Footer Placeholder 5">
            <a:extLst>
              <a:ext uri="{FF2B5EF4-FFF2-40B4-BE49-F238E27FC236}">
                <a16:creationId xmlns:a16="http://schemas.microsoft.com/office/drawing/2014/main" id="{958099B9-FF0E-EF38-F844-1891FDFFCD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29C09C-3BBB-7D4A-9B62-6892FC8DCF2E}"/>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268102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E1067-E86A-2E9B-FB27-8749DBC61D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67F840-BA0E-AD79-C752-917C237C41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D4431F-CA55-0E1A-03A3-AC2BAF00D6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3D5063-768B-AFEE-8CF7-69AA253DF3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E0B61-7D60-D6A9-365A-CFD2509A68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602C3B-67AA-861E-7E48-6B4C184EB1D9}"/>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8" name="Footer Placeholder 7">
            <a:extLst>
              <a:ext uri="{FF2B5EF4-FFF2-40B4-BE49-F238E27FC236}">
                <a16:creationId xmlns:a16="http://schemas.microsoft.com/office/drawing/2014/main" id="{9713F54E-06E7-F9D7-BD4D-A5D52EC67F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2DF4A7-370A-A4EF-4AFC-B354540CB01A}"/>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2373740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3868E-7CD8-9A52-4367-398F708A74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87801C-719D-2B60-26DA-621B52A1474A}"/>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4" name="Footer Placeholder 3">
            <a:extLst>
              <a:ext uri="{FF2B5EF4-FFF2-40B4-BE49-F238E27FC236}">
                <a16:creationId xmlns:a16="http://schemas.microsoft.com/office/drawing/2014/main" id="{0A8A35B2-B38C-3001-33A0-3E1247316A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95B337-A6B3-3686-9950-3385773CDA90}"/>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4021325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24C7C4-967C-69E8-2FBA-671282CDC6CD}"/>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3" name="Footer Placeholder 2">
            <a:extLst>
              <a:ext uri="{FF2B5EF4-FFF2-40B4-BE49-F238E27FC236}">
                <a16:creationId xmlns:a16="http://schemas.microsoft.com/office/drawing/2014/main" id="{2F8A8212-56ED-88DF-483B-DE252FFA4C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C8A40B-292A-1937-9232-94B321A1ABA0}"/>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880796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B9736-C327-8B27-63B3-782A5DED4A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F03D83-7B3A-7896-BD3A-948E19F0F8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F0B6D2-4D38-96A0-C16D-594E83C3D2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4A53A4-42D2-221F-1DDB-88D914B9010D}"/>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6" name="Footer Placeholder 5">
            <a:extLst>
              <a:ext uri="{FF2B5EF4-FFF2-40B4-BE49-F238E27FC236}">
                <a16:creationId xmlns:a16="http://schemas.microsoft.com/office/drawing/2014/main" id="{8D1FB0A5-91E9-749D-4EDB-35A46CBA79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61378B-ABAC-936C-8D43-C57A7C34E033}"/>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70304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630C-7F81-A9AF-4F94-158D21E612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0131BC-3BE7-6DD2-4A99-D93E07796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4B64F6-CC9A-F0F4-AF95-5826C9CD8A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D157B5-6836-3E95-40EA-555EDDB9C54B}"/>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6" name="Footer Placeholder 5">
            <a:extLst>
              <a:ext uri="{FF2B5EF4-FFF2-40B4-BE49-F238E27FC236}">
                <a16:creationId xmlns:a16="http://schemas.microsoft.com/office/drawing/2014/main" id="{92DD035B-D7DE-D4CA-D256-7A7589FE39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0320C-3EF9-6C20-8C0A-121A4753B20A}"/>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3080083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52621-7A48-5674-BEFB-8199A423E5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9EF8EA-B289-14B0-4886-7C807F6F34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8BD3D-4934-C213-184F-240D9EC6407D}"/>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5" name="Footer Placeholder 4">
            <a:extLst>
              <a:ext uri="{FF2B5EF4-FFF2-40B4-BE49-F238E27FC236}">
                <a16:creationId xmlns:a16="http://schemas.microsoft.com/office/drawing/2014/main" id="{F6AE9B37-D82E-233F-0DF3-C93F7DC447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78FE0-A19F-F1F8-039A-D452503F5AF9}"/>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4045019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098D38-9E16-9D23-CACD-BFC5877916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C66CF0-F20C-0244-51EB-F21A7E40BE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18C92-66A1-2553-C0FC-7F3D01955CEA}"/>
              </a:ext>
            </a:extLst>
          </p:cNvPr>
          <p:cNvSpPr>
            <a:spLocks noGrp="1"/>
          </p:cNvSpPr>
          <p:nvPr>
            <p:ph type="dt" sz="half" idx="10"/>
          </p:nvPr>
        </p:nvSpPr>
        <p:spPr/>
        <p:txBody>
          <a:bodyPr/>
          <a:lstStyle/>
          <a:p>
            <a:fld id="{B4B99679-FEF6-46AA-90F2-A72953A3F539}" type="datetimeFigureOut">
              <a:rPr lang="en-US" smtClean="0"/>
              <a:t>3/11/2026</a:t>
            </a:fld>
            <a:endParaRPr lang="en-US"/>
          </a:p>
        </p:txBody>
      </p:sp>
      <p:sp>
        <p:nvSpPr>
          <p:cNvPr id="5" name="Footer Placeholder 4">
            <a:extLst>
              <a:ext uri="{FF2B5EF4-FFF2-40B4-BE49-F238E27FC236}">
                <a16:creationId xmlns:a16="http://schemas.microsoft.com/office/drawing/2014/main" id="{0E357A44-3E36-D406-3CAA-7AB095B9A8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EDC44E-78A0-B6C0-EBF9-226518C0B8C2}"/>
              </a:ext>
            </a:extLst>
          </p:cNvPr>
          <p:cNvSpPr>
            <a:spLocks noGrp="1"/>
          </p:cNvSpPr>
          <p:nvPr>
            <p:ph type="sldNum" sz="quarter" idx="12"/>
          </p:nvPr>
        </p:nvSpPr>
        <p:spPr/>
        <p:txBody>
          <a:bodyPr/>
          <a:lstStyle/>
          <a:p>
            <a:fld id="{DDE5E65C-D487-48D3-80D0-5A63456CEBD4}" type="slidenum">
              <a:rPr lang="en-US" smtClean="0"/>
              <a:t>‹#›</a:t>
            </a:fld>
            <a:endParaRPr lang="en-US"/>
          </a:p>
        </p:txBody>
      </p:sp>
    </p:spTree>
    <p:extLst>
      <p:ext uri="{BB962C8B-B14F-4D97-AF65-F5344CB8AC3E}">
        <p14:creationId xmlns:p14="http://schemas.microsoft.com/office/powerpoint/2010/main" val="238417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BCF431-E743-4140-FF9E-E203AC44E9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F918FF-3B93-5035-0482-BA9C408474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1082C6-5EBB-5B5E-7B54-85065C9DDE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B99679-FEF6-46AA-90F2-A72953A3F539}" type="datetimeFigureOut">
              <a:rPr lang="en-US" smtClean="0"/>
              <a:t>3/11/2026</a:t>
            </a:fld>
            <a:endParaRPr lang="en-US"/>
          </a:p>
        </p:txBody>
      </p:sp>
      <p:sp>
        <p:nvSpPr>
          <p:cNvPr id="5" name="Footer Placeholder 4">
            <a:extLst>
              <a:ext uri="{FF2B5EF4-FFF2-40B4-BE49-F238E27FC236}">
                <a16:creationId xmlns:a16="http://schemas.microsoft.com/office/drawing/2014/main" id="{3989B7C8-FB00-BAD9-C576-7D4A99E0EA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211E14-DA02-1A56-4020-4AC6B1236E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E5E65C-D487-48D3-80D0-5A63456CEBD4}" type="slidenum">
              <a:rPr lang="en-US" smtClean="0"/>
              <a:t>‹#›</a:t>
            </a:fld>
            <a:endParaRPr lang="en-US"/>
          </a:p>
        </p:txBody>
      </p:sp>
    </p:spTree>
    <p:extLst>
      <p:ext uri="{BB962C8B-B14F-4D97-AF65-F5344CB8AC3E}">
        <p14:creationId xmlns:p14="http://schemas.microsoft.com/office/powerpoint/2010/main" val="1049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4B5662C-AEB6-4077-7038-BFE034F14F28}"/>
              </a:ext>
            </a:extLst>
          </p:cNvPr>
          <p:cNvPicPr>
            <a:picLocks noGrp="1" noChangeAspect="1"/>
          </p:cNvPicPr>
          <p:nvPr>
            <p:ph idx="1"/>
          </p:nvPr>
        </p:nvPicPr>
        <p:blipFill>
          <a:blip r:embed="rId2"/>
          <a:stretch>
            <a:fillRect/>
          </a:stretch>
        </p:blipFill>
        <p:spPr>
          <a:xfrm>
            <a:off x="1289304" y="1173707"/>
            <a:ext cx="7581621" cy="2065992"/>
          </a:xfrm>
          <a:prstGeom prst="rect">
            <a:avLst/>
          </a:prstGeom>
        </p:spPr>
      </p:pic>
      <p:sp>
        <p:nvSpPr>
          <p:cNvPr id="6" name="TextBox 5">
            <a:extLst>
              <a:ext uri="{FF2B5EF4-FFF2-40B4-BE49-F238E27FC236}">
                <a16:creationId xmlns:a16="http://schemas.microsoft.com/office/drawing/2014/main" id="{700FA384-F6EE-D470-342C-4D54FFB9AADF}"/>
              </a:ext>
            </a:extLst>
          </p:cNvPr>
          <p:cNvSpPr txBox="1"/>
          <p:nvPr/>
        </p:nvSpPr>
        <p:spPr>
          <a:xfrm>
            <a:off x="1289304" y="4612943"/>
            <a:ext cx="7745969" cy="140822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600" dirty="0"/>
              <a:t>PROJECT TITLE: URBAN MOBILITY AND TRAFFIC FLOW ANALYSIS</a:t>
            </a:r>
          </a:p>
          <a:p>
            <a:pPr>
              <a:lnSpc>
                <a:spcPct val="90000"/>
              </a:lnSpc>
              <a:spcAft>
                <a:spcPts val="600"/>
              </a:spcAft>
            </a:pPr>
            <a:r>
              <a:rPr lang="en-US" sz="1600" b="1" dirty="0"/>
              <a:t>Student Name:</a:t>
            </a:r>
            <a:r>
              <a:rPr lang="en-US" sz="1600" dirty="0"/>
              <a:t> </a:t>
            </a:r>
            <a:r>
              <a:rPr lang="en-US" sz="1600" i="1" dirty="0"/>
              <a:t>Rita Timinah</a:t>
            </a:r>
            <a:br>
              <a:rPr lang="en-US" sz="1600" dirty="0"/>
            </a:br>
            <a:r>
              <a:rPr lang="en-US" sz="1600" b="1" dirty="0"/>
              <a:t>Registration : SCT-C002-0028/2022</a:t>
            </a:r>
            <a:br>
              <a:rPr lang="en-US" sz="1600" dirty="0"/>
            </a:br>
            <a:r>
              <a:rPr lang="en-US" sz="1600" b="1" dirty="0"/>
              <a:t>Supervisor:</a:t>
            </a:r>
            <a:r>
              <a:rPr lang="en-US" sz="1600" dirty="0"/>
              <a:t> </a:t>
            </a:r>
            <a:r>
              <a:rPr lang="en-US" sz="1600" i="1" dirty="0"/>
              <a:t>Mr. Samwel </a:t>
            </a:r>
            <a:r>
              <a:rPr lang="en-US" sz="1600" i="1" dirty="0" err="1"/>
              <a:t>Adhola</a:t>
            </a:r>
            <a:r>
              <a:rPr lang="en-US" sz="1600" i="1" dirty="0"/>
              <a:t> </a:t>
            </a:r>
            <a:br>
              <a:rPr lang="en-US" sz="1600" dirty="0"/>
            </a:br>
            <a:r>
              <a:rPr lang="en-US" sz="1600" b="1" dirty="0"/>
              <a:t>Course:</a:t>
            </a:r>
            <a:r>
              <a:rPr lang="en-US" sz="1600" dirty="0"/>
              <a:t> Data Science and Analytics</a:t>
            </a:r>
          </a:p>
          <a:p>
            <a:pPr indent="-228600">
              <a:lnSpc>
                <a:spcPct val="90000"/>
              </a:lnSpc>
              <a:spcAft>
                <a:spcPts val="600"/>
              </a:spcAft>
              <a:buFont typeface="Arial" panose="020B0604020202020204" pitchFamily="34" charset="0"/>
              <a:buChar char="•"/>
            </a:pPr>
            <a:endParaRPr lang="en-US" sz="1600" dirty="0"/>
          </a:p>
        </p:txBody>
      </p:sp>
    </p:spTree>
    <p:extLst>
      <p:ext uri="{BB962C8B-B14F-4D97-AF65-F5344CB8AC3E}">
        <p14:creationId xmlns:p14="http://schemas.microsoft.com/office/powerpoint/2010/main" val="4188795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7B2AFA6-9103-0AFE-ABDA-D69EE43DC457}"/>
              </a:ext>
            </a:extLst>
          </p:cNvPr>
          <p:cNvPicPr>
            <a:picLocks noChangeAspect="1"/>
          </p:cNvPicPr>
          <p:nvPr/>
        </p:nvPicPr>
        <p:blipFill>
          <a:blip r:embed="rId2"/>
          <a:srcRect l="45533" r="9644"/>
          <a:stretch>
            <a:fillRect/>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1246C115-71CF-EE6D-EDFB-9D204409667E}"/>
              </a:ext>
            </a:extLst>
          </p:cNvPr>
          <p:cNvGraphicFramePr>
            <a:graphicFrameLocks noGrp="1"/>
          </p:cNvGraphicFramePr>
          <p:nvPr>
            <p:ph idx="1"/>
            <p:extLst>
              <p:ext uri="{D42A27DB-BD31-4B8C-83A1-F6EECF244321}">
                <p14:modId xmlns:p14="http://schemas.microsoft.com/office/powerpoint/2010/main" val="4146345085"/>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5950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CA40D1C-F528-AB7E-8FBE-AD8A5827C0CB}"/>
              </a:ext>
            </a:extLst>
          </p:cNvPr>
          <p:cNvPicPr>
            <a:picLocks noChangeAspect="1"/>
          </p:cNvPicPr>
          <p:nvPr/>
        </p:nvPicPr>
        <p:blipFill>
          <a:blip r:embed="rId2"/>
          <a:srcRect l="35484" r="20141"/>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2">
            <a:extLst>
              <a:ext uri="{FF2B5EF4-FFF2-40B4-BE49-F238E27FC236}">
                <a16:creationId xmlns:a16="http://schemas.microsoft.com/office/drawing/2014/main" id="{97CA3CB8-3642-AD31-F70E-E9F6B325CA11}"/>
              </a:ext>
            </a:extLst>
          </p:cNvPr>
          <p:cNvSpPr>
            <a:spLocks noGrp="1"/>
          </p:cNvSpPr>
          <p:nvPr>
            <p:ph idx="1"/>
          </p:nvPr>
        </p:nvSpPr>
        <p:spPr>
          <a:xfrm>
            <a:off x="6115317" y="2743200"/>
            <a:ext cx="5247340" cy="3496878"/>
          </a:xfrm>
        </p:spPr>
        <p:txBody>
          <a:bodyPr anchor="ctr">
            <a:normAutofit/>
          </a:bodyPr>
          <a:lstStyle/>
          <a:p>
            <a:r>
              <a:rPr lang="en-US" sz="1100" b="1">
                <a:latin typeface="Times New Roman" panose="02020603050405020304" pitchFamily="18" charset="0"/>
                <a:cs typeface="Times New Roman" panose="02020603050405020304" pitchFamily="18" charset="0"/>
              </a:rPr>
              <a:t> PROBLEM STATEMENT</a:t>
            </a:r>
          </a:p>
          <a:p>
            <a:r>
              <a:rPr lang="en-US" sz="1100">
                <a:latin typeface="Times New Roman" panose="02020603050405020304" pitchFamily="18" charset="0"/>
                <a:cs typeface="Times New Roman" panose="02020603050405020304" pitchFamily="18" charset="0"/>
              </a:rPr>
              <a:t>The primary problem is the inefficiency of  manual traffic management which leads to unpredictable travel times and economic loss.</a:t>
            </a:r>
          </a:p>
          <a:p>
            <a:r>
              <a:rPr lang="en-US" sz="1100">
                <a:latin typeface="Times New Roman" panose="02020603050405020304" pitchFamily="18" charset="0"/>
                <a:cs typeface="Times New Roman" panose="02020603050405020304" pitchFamily="18" charset="0"/>
              </a:rPr>
              <a:t> Current functions in urban centers rely on historical averages and fixed-point sensors that do not capture the dynamic nature of human movement.</a:t>
            </a:r>
          </a:p>
          <a:p>
            <a:r>
              <a:rPr lang="en-US" sz="1100">
                <a:latin typeface="Times New Roman" panose="02020603050405020304" pitchFamily="18" charset="0"/>
                <a:cs typeface="Times New Roman" panose="02020603050405020304" pitchFamily="18" charset="0"/>
              </a:rPr>
              <a:t> This problem arises from the inability of existing systems to process high-velocity data in real-time, resulting in "blind spots" during peak hours and a failure to adapt to sudden changes in traffic density.</a:t>
            </a:r>
          </a:p>
          <a:p>
            <a:pPr marL="0" indent="0">
              <a:buNone/>
            </a:pPr>
            <a:r>
              <a:rPr lang="en-US" sz="1100" b="1">
                <a:latin typeface="Times New Roman" panose="02020603050405020304" pitchFamily="18" charset="0"/>
                <a:cs typeface="Times New Roman" panose="02020603050405020304" pitchFamily="18" charset="0"/>
              </a:rPr>
              <a:t> PROPOSED SOLUTION</a:t>
            </a:r>
          </a:p>
          <a:p>
            <a:r>
              <a:rPr lang="en-US" sz="1100">
                <a:latin typeface="Times New Roman" panose="02020603050405020304" pitchFamily="18" charset="0"/>
                <a:cs typeface="Times New Roman" panose="02020603050405020304" pitchFamily="18" charset="0"/>
              </a:rPr>
              <a:t>The proposed solution is a </a:t>
            </a:r>
            <a:r>
              <a:rPr lang="en-US" sz="1100" b="1">
                <a:latin typeface="Times New Roman" panose="02020603050405020304" pitchFamily="18" charset="0"/>
                <a:cs typeface="Times New Roman" panose="02020603050405020304" pitchFamily="18" charset="0"/>
              </a:rPr>
              <a:t>Predictive Urban Mobility Analytics System (PUMAS)</a:t>
            </a:r>
            <a:r>
              <a:rPr lang="en-US" sz="1100">
                <a:latin typeface="Times New Roman" panose="02020603050405020304" pitchFamily="18" charset="0"/>
                <a:cs typeface="Times New Roman" panose="02020603050405020304" pitchFamily="18" charset="0"/>
              </a:rPr>
              <a:t>. </a:t>
            </a:r>
          </a:p>
          <a:p>
            <a:r>
              <a:rPr lang="en-US" sz="1100">
                <a:latin typeface="Times New Roman" panose="02020603050405020304" pitchFamily="18" charset="0"/>
                <a:cs typeface="Times New Roman" panose="02020603050405020304" pitchFamily="18" charset="0"/>
              </a:rPr>
              <a:t>This system will move beyond static counts to utilize real-time Open Data to map traffic density and identify underlying movement patterns.</a:t>
            </a:r>
          </a:p>
          <a:p>
            <a:r>
              <a:rPr lang="en-US" sz="1100">
                <a:latin typeface="Times New Roman" panose="02020603050405020304" pitchFamily="18" charset="0"/>
                <a:cs typeface="Times New Roman" panose="02020603050405020304" pitchFamily="18" charset="0"/>
              </a:rPr>
              <a:t> The system will feature a high-level dashboard capable of suggesting dynamic optimizations for public transport and ride-sharing services, providing a proactive framework for city-wide mobility.</a:t>
            </a:r>
          </a:p>
          <a:p>
            <a:endParaRPr lang="en-US" sz="1100">
              <a:latin typeface="Times New Roman" panose="02020603050405020304" pitchFamily="18" charset="0"/>
              <a:cs typeface="Times New Roman" panose="02020603050405020304" pitchFamily="18" charset="0"/>
            </a:endParaRPr>
          </a:p>
          <a:p>
            <a:endParaRPr lang="en-US" sz="11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2201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ext Placeholder 2">
            <a:extLst>
              <a:ext uri="{FF2B5EF4-FFF2-40B4-BE49-F238E27FC236}">
                <a16:creationId xmlns:a16="http://schemas.microsoft.com/office/drawing/2014/main" id="{88EA48B7-F4FC-1549-CAC7-A68DB8E28004}"/>
              </a:ext>
            </a:extLst>
          </p:cNvPr>
          <p:cNvGraphicFramePr/>
          <p:nvPr/>
        </p:nvGraphicFramePr>
        <p:xfrm>
          <a:off x="0" y="192505"/>
          <a:ext cx="12192000" cy="66654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8895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ext Placeholder 2">
            <a:extLst>
              <a:ext uri="{FF2B5EF4-FFF2-40B4-BE49-F238E27FC236}">
                <a16:creationId xmlns:a16="http://schemas.microsoft.com/office/drawing/2014/main" id="{B7F38A4D-8F09-9580-C4A9-92098FBC81F3}"/>
              </a:ext>
            </a:extLst>
          </p:cNvPr>
          <p:cNvGraphicFramePr/>
          <p:nvPr>
            <p:extLst>
              <p:ext uri="{D42A27DB-BD31-4B8C-83A1-F6EECF244321}">
                <p14:modId xmlns:p14="http://schemas.microsoft.com/office/powerpoint/2010/main" val="3506597102"/>
              </p:ext>
            </p:extLst>
          </p:nvPr>
        </p:nvGraphicFramePr>
        <p:xfrm>
          <a:off x="174123" y="161842"/>
          <a:ext cx="11889539" cy="66961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5234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B86AC3B-7BFF-A6CE-D718-3DF8016D40D3}"/>
              </a:ext>
            </a:extLst>
          </p:cNvPr>
          <p:cNvGraphicFramePr>
            <a:graphicFrameLocks noGrp="1"/>
          </p:cNvGraphicFramePr>
          <p:nvPr>
            <p:extLst>
              <p:ext uri="{D42A27DB-BD31-4B8C-83A1-F6EECF244321}">
                <p14:modId xmlns:p14="http://schemas.microsoft.com/office/powerpoint/2010/main" val="130285627"/>
              </p:ext>
            </p:extLst>
          </p:nvPr>
        </p:nvGraphicFramePr>
        <p:xfrm>
          <a:off x="838200" y="2355374"/>
          <a:ext cx="10515600" cy="2194560"/>
        </p:xfrm>
        <a:graphic>
          <a:graphicData uri="http://schemas.openxmlformats.org/drawingml/2006/table">
            <a:tbl>
              <a:tblPr/>
              <a:tblGrid>
                <a:gridCol w="5257800">
                  <a:extLst>
                    <a:ext uri="{9D8B030D-6E8A-4147-A177-3AD203B41FA5}">
                      <a16:colId xmlns:a16="http://schemas.microsoft.com/office/drawing/2014/main" val="448001635"/>
                    </a:ext>
                  </a:extLst>
                </a:gridCol>
                <a:gridCol w="5257800">
                  <a:extLst>
                    <a:ext uri="{9D8B030D-6E8A-4147-A177-3AD203B41FA5}">
                      <a16:colId xmlns:a16="http://schemas.microsoft.com/office/drawing/2014/main" val="2579161018"/>
                    </a:ext>
                  </a:extLst>
                </a:gridCol>
              </a:tblGrid>
              <a:tr h="0">
                <a:tc>
                  <a:txBody>
                    <a:bodyPr/>
                    <a:lstStyle/>
                    <a:p>
                      <a:pPr>
                        <a:buNone/>
                      </a:pPr>
                      <a:r>
                        <a:rPr lang="en-US" sz="1200">
                          <a:latin typeface="Times New Roman" panose="02020603050405020304" pitchFamily="18" charset="0"/>
                          <a:cs typeface="Times New Roman" panose="02020603050405020304" pitchFamily="18" charset="0"/>
                        </a:rPr>
                        <a:t>Activity</a:t>
                      </a: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Duration</a:t>
                      </a:r>
                    </a:p>
                  </a:txBody>
                  <a:tcPr anchor="ctr">
                    <a:lnL>
                      <a:noFill/>
                    </a:lnL>
                    <a:lnR>
                      <a:noFill/>
                    </a:lnR>
                    <a:lnT>
                      <a:noFill/>
                    </a:lnT>
                    <a:lnB>
                      <a:noFill/>
                    </a:lnB>
                    <a:noFill/>
                  </a:tcPr>
                </a:tc>
                <a:extLst>
                  <a:ext uri="{0D108BD9-81ED-4DB2-BD59-A6C34878D82A}">
                    <a16:rowId xmlns:a16="http://schemas.microsoft.com/office/drawing/2014/main" val="2339300101"/>
                  </a:ext>
                </a:extLst>
              </a:tr>
              <a:tr h="0">
                <a:tc>
                  <a:txBody>
                    <a:bodyPr/>
                    <a:lstStyle/>
                    <a:p>
                      <a:pPr>
                        <a:buNone/>
                      </a:pPr>
                      <a:r>
                        <a:rPr lang="en-US" sz="1200" dirty="0">
                          <a:latin typeface="Times New Roman" panose="02020603050405020304" pitchFamily="18" charset="0"/>
                          <a:cs typeface="Times New Roman" panose="02020603050405020304" pitchFamily="18" charset="0"/>
                        </a:rPr>
                        <a:t>Data collection</a:t>
                      </a:r>
                    </a:p>
                  </a:txBody>
                  <a:tcPr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1 week</a:t>
                      </a:r>
                    </a:p>
                  </a:txBody>
                  <a:tcPr anchor="ctr">
                    <a:lnL>
                      <a:noFill/>
                    </a:lnL>
                    <a:lnR>
                      <a:noFill/>
                    </a:lnR>
                    <a:lnT>
                      <a:noFill/>
                    </a:lnT>
                    <a:lnB>
                      <a:noFill/>
                    </a:lnB>
                    <a:noFill/>
                  </a:tcPr>
                </a:tc>
                <a:extLst>
                  <a:ext uri="{0D108BD9-81ED-4DB2-BD59-A6C34878D82A}">
                    <a16:rowId xmlns:a16="http://schemas.microsoft.com/office/drawing/2014/main" val="4226454817"/>
                  </a:ext>
                </a:extLst>
              </a:tr>
              <a:tr h="0">
                <a:tc>
                  <a:txBody>
                    <a:bodyPr/>
                    <a:lstStyle/>
                    <a:p>
                      <a:pPr>
                        <a:buNone/>
                      </a:pPr>
                      <a:r>
                        <a:rPr lang="en-US" sz="1200">
                          <a:latin typeface="Times New Roman" panose="02020603050405020304" pitchFamily="18" charset="0"/>
                          <a:cs typeface="Times New Roman" panose="02020603050405020304" pitchFamily="18" charset="0"/>
                        </a:rPr>
                        <a:t>Data cleaning &amp; preprocessing</a:t>
                      </a: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2 weeks</a:t>
                      </a:r>
                    </a:p>
                  </a:txBody>
                  <a:tcPr anchor="ctr">
                    <a:lnL>
                      <a:noFill/>
                    </a:lnL>
                    <a:lnR>
                      <a:noFill/>
                    </a:lnR>
                    <a:lnT>
                      <a:noFill/>
                    </a:lnT>
                    <a:lnB>
                      <a:noFill/>
                    </a:lnB>
                    <a:noFill/>
                  </a:tcPr>
                </a:tc>
                <a:extLst>
                  <a:ext uri="{0D108BD9-81ED-4DB2-BD59-A6C34878D82A}">
                    <a16:rowId xmlns:a16="http://schemas.microsoft.com/office/drawing/2014/main" val="2693352023"/>
                  </a:ext>
                </a:extLst>
              </a:tr>
              <a:tr h="0">
                <a:tc>
                  <a:txBody>
                    <a:bodyPr/>
                    <a:lstStyle/>
                    <a:p>
                      <a:pPr>
                        <a:buNone/>
                      </a:pPr>
                      <a:r>
                        <a:rPr lang="en-US" sz="1200" dirty="0">
                          <a:latin typeface="Times New Roman" panose="02020603050405020304" pitchFamily="18" charset="0"/>
                          <a:cs typeface="Times New Roman" panose="02020603050405020304" pitchFamily="18" charset="0"/>
                        </a:rPr>
                        <a:t>Exploratory data analysis</a:t>
                      </a: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2 weeks</a:t>
                      </a:r>
                    </a:p>
                  </a:txBody>
                  <a:tcPr anchor="ctr">
                    <a:lnL>
                      <a:noFill/>
                    </a:lnL>
                    <a:lnR>
                      <a:noFill/>
                    </a:lnR>
                    <a:lnT>
                      <a:noFill/>
                    </a:lnT>
                    <a:lnB>
                      <a:noFill/>
                    </a:lnB>
                    <a:noFill/>
                  </a:tcPr>
                </a:tc>
                <a:extLst>
                  <a:ext uri="{0D108BD9-81ED-4DB2-BD59-A6C34878D82A}">
                    <a16:rowId xmlns:a16="http://schemas.microsoft.com/office/drawing/2014/main" val="4161855511"/>
                  </a:ext>
                </a:extLst>
              </a:tr>
              <a:tr h="0">
                <a:tc>
                  <a:txBody>
                    <a:bodyPr/>
                    <a:lstStyle/>
                    <a:p>
                      <a:pPr>
                        <a:buNone/>
                      </a:pPr>
                      <a:r>
                        <a:rPr lang="en-US" sz="1200">
                          <a:latin typeface="Times New Roman" panose="02020603050405020304" pitchFamily="18" charset="0"/>
                          <a:cs typeface="Times New Roman" panose="02020603050405020304" pitchFamily="18" charset="0"/>
                        </a:rPr>
                        <a:t>Geospatial visualization</a:t>
                      </a: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2 weeks</a:t>
                      </a:r>
                    </a:p>
                  </a:txBody>
                  <a:tcPr anchor="ctr">
                    <a:lnL>
                      <a:noFill/>
                    </a:lnL>
                    <a:lnR>
                      <a:noFill/>
                    </a:lnR>
                    <a:lnT>
                      <a:noFill/>
                    </a:lnT>
                    <a:lnB>
                      <a:noFill/>
                    </a:lnB>
                    <a:noFill/>
                  </a:tcPr>
                </a:tc>
                <a:extLst>
                  <a:ext uri="{0D108BD9-81ED-4DB2-BD59-A6C34878D82A}">
                    <a16:rowId xmlns:a16="http://schemas.microsoft.com/office/drawing/2014/main" val="226801661"/>
                  </a:ext>
                </a:extLst>
              </a:tr>
              <a:tr h="0">
                <a:tc>
                  <a:txBody>
                    <a:bodyPr/>
                    <a:lstStyle/>
                    <a:p>
                      <a:pPr>
                        <a:buNone/>
                      </a:pPr>
                      <a:r>
                        <a:rPr lang="en-US" sz="1200">
                          <a:latin typeface="Times New Roman" panose="02020603050405020304" pitchFamily="18" charset="0"/>
                          <a:cs typeface="Times New Roman" panose="02020603050405020304" pitchFamily="18" charset="0"/>
                        </a:rPr>
                        <a:t>Hypothesis testing &amp; evaluation</a:t>
                      </a:r>
                    </a:p>
                  </a:txBody>
                  <a:tcPr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2 week</a:t>
                      </a:r>
                    </a:p>
                  </a:txBody>
                  <a:tcPr anchor="ctr">
                    <a:lnL>
                      <a:noFill/>
                    </a:lnL>
                    <a:lnR>
                      <a:noFill/>
                    </a:lnR>
                    <a:lnT>
                      <a:noFill/>
                    </a:lnT>
                    <a:lnB>
                      <a:noFill/>
                    </a:lnB>
                    <a:noFill/>
                  </a:tcPr>
                </a:tc>
                <a:extLst>
                  <a:ext uri="{0D108BD9-81ED-4DB2-BD59-A6C34878D82A}">
                    <a16:rowId xmlns:a16="http://schemas.microsoft.com/office/drawing/2014/main" val="1994901678"/>
                  </a:ext>
                </a:extLst>
              </a:tr>
              <a:tr h="0">
                <a:tc>
                  <a:txBody>
                    <a:bodyPr/>
                    <a:lstStyle/>
                    <a:p>
                      <a:pPr>
                        <a:buNone/>
                      </a:pPr>
                      <a:r>
                        <a:rPr lang="en-US" sz="1200">
                          <a:latin typeface="Times New Roman" panose="02020603050405020304" pitchFamily="18" charset="0"/>
                          <a:cs typeface="Times New Roman" panose="02020603050405020304" pitchFamily="18" charset="0"/>
                        </a:rPr>
                        <a:t>Report writing</a:t>
                      </a:r>
                    </a:p>
                  </a:txBody>
                  <a:tcPr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2 weeks</a:t>
                      </a:r>
                    </a:p>
                  </a:txBody>
                  <a:tcPr anchor="ctr">
                    <a:lnL>
                      <a:noFill/>
                    </a:lnL>
                    <a:lnR>
                      <a:noFill/>
                    </a:lnR>
                    <a:lnT>
                      <a:noFill/>
                    </a:lnT>
                    <a:lnB>
                      <a:noFill/>
                    </a:lnB>
                    <a:noFill/>
                  </a:tcPr>
                </a:tc>
                <a:extLst>
                  <a:ext uri="{0D108BD9-81ED-4DB2-BD59-A6C34878D82A}">
                    <a16:rowId xmlns:a16="http://schemas.microsoft.com/office/drawing/2014/main" val="2670757805"/>
                  </a:ext>
                </a:extLst>
              </a:tr>
              <a:tr h="0">
                <a:tc>
                  <a:txBody>
                    <a:bodyPr/>
                    <a:lstStyle/>
                    <a:p>
                      <a:pPr>
                        <a:buNone/>
                      </a:pPr>
                      <a:r>
                        <a:rPr lang="en-US" sz="1200">
                          <a:latin typeface="Times New Roman" panose="02020603050405020304" pitchFamily="18" charset="0"/>
                          <a:cs typeface="Times New Roman" panose="02020603050405020304" pitchFamily="18" charset="0"/>
                        </a:rPr>
                        <a:t>Final presentation &amp; submission</a:t>
                      </a:r>
                    </a:p>
                  </a:txBody>
                  <a:tcPr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1 week</a:t>
                      </a:r>
                    </a:p>
                  </a:txBody>
                  <a:tcPr anchor="ctr">
                    <a:lnL>
                      <a:noFill/>
                    </a:lnL>
                    <a:lnR>
                      <a:noFill/>
                    </a:lnR>
                    <a:lnT>
                      <a:noFill/>
                    </a:lnT>
                    <a:lnB>
                      <a:noFill/>
                    </a:lnB>
                    <a:noFill/>
                  </a:tcPr>
                </a:tc>
                <a:extLst>
                  <a:ext uri="{0D108BD9-81ED-4DB2-BD59-A6C34878D82A}">
                    <a16:rowId xmlns:a16="http://schemas.microsoft.com/office/drawing/2014/main" val="3168366993"/>
                  </a:ext>
                </a:extLst>
              </a:tr>
            </a:tbl>
          </a:graphicData>
        </a:graphic>
      </p:graphicFrame>
      <p:sp>
        <p:nvSpPr>
          <p:cNvPr id="5" name="Rectangle 1">
            <a:extLst>
              <a:ext uri="{FF2B5EF4-FFF2-40B4-BE49-F238E27FC236}">
                <a16:creationId xmlns:a16="http://schemas.microsoft.com/office/drawing/2014/main" id="{BF9A64B8-F8BC-6DF7-08C1-1C32F976C8D5}"/>
              </a:ext>
            </a:extLst>
          </p:cNvPr>
          <p:cNvSpPr>
            <a:spLocks noGrp="1" noChangeArrowheads="1"/>
          </p:cNvSpPr>
          <p:nvPr>
            <p:ph type="body" idx="1"/>
          </p:nvPr>
        </p:nvSpPr>
        <p:spPr bwMode="auto">
          <a:xfrm>
            <a:off x="153988" y="3217088"/>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83148D92-D066-C5FE-28FF-9504095F3A43}"/>
              </a:ext>
            </a:extLst>
          </p:cNvPr>
          <p:cNvSpPr txBox="1"/>
          <p:nvPr/>
        </p:nvSpPr>
        <p:spPr>
          <a:xfrm>
            <a:off x="1838632" y="1435510"/>
            <a:ext cx="4807973" cy="369332"/>
          </a:xfrm>
          <a:prstGeom prst="rect">
            <a:avLst/>
          </a:prstGeom>
          <a:noFill/>
        </p:spPr>
        <p:txBody>
          <a:bodyPr wrap="square" rtlCol="0">
            <a:spAutoFit/>
          </a:bodyPr>
          <a:lstStyle/>
          <a:p>
            <a:r>
              <a:rPr lang="en-US" dirty="0"/>
              <a:t>SCHEDULE   12 weeks</a:t>
            </a:r>
          </a:p>
        </p:txBody>
      </p:sp>
    </p:spTree>
    <p:extLst>
      <p:ext uri="{BB962C8B-B14F-4D97-AF65-F5344CB8AC3E}">
        <p14:creationId xmlns:p14="http://schemas.microsoft.com/office/powerpoint/2010/main" val="2547200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CF0E436D-5C78-5897-A092-EEDE331D99FD}"/>
              </a:ext>
            </a:extLst>
          </p:cNvPr>
          <p:cNvSpPr>
            <a:spLocks noGrp="1" noChangeArrowheads="1"/>
          </p:cNvSpPr>
          <p:nvPr>
            <p:ph type="body" idx="1"/>
          </p:nvPr>
        </p:nvSpPr>
        <p:spPr bwMode="auto">
          <a:xfrm>
            <a:off x="6590966" y="3428999"/>
            <a:ext cx="4805691" cy="8388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R="0" lvl="0" fontAlgn="base">
              <a:spcAft>
                <a:spcPct val="0"/>
              </a:spcAft>
              <a:buClrTx/>
              <a:buSzTx/>
              <a:tabLst/>
            </a:pPr>
            <a:r>
              <a:rPr lang="en-US" altLang="en-US" sz="2000" b="1" kern="1200">
                <a:solidFill>
                  <a:schemeClr val="tx2"/>
                </a:solidFill>
                <a:latin typeface="+mn-lt"/>
                <a:ea typeface="+mn-ea"/>
                <a:cs typeface="+mn-cs"/>
              </a:rPr>
              <a:t>BUDGET</a:t>
            </a:r>
            <a:endParaRPr kumimoji="0" lang="en-US" altLang="en-US" sz="2000" b="1" i="0" u="none" strike="noStrike" kern="1200" cap="none" normalizeH="0" baseline="0">
              <a:ln>
                <a:noFill/>
              </a:ln>
              <a:solidFill>
                <a:schemeClr val="tx2"/>
              </a:solidFill>
              <a:effectLst/>
              <a:latin typeface="+mn-lt"/>
              <a:ea typeface="+mn-ea"/>
              <a:cs typeface="+mn-cs"/>
            </a:endParaRPr>
          </a:p>
        </p:txBody>
      </p:sp>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4" name="Table 3">
            <a:extLst>
              <a:ext uri="{FF2B5EF4-FFF2-40B4-BE49-F238E27FC236}">
                <a16:creationId xmlns:a16="http://schemas.microsoft.com/office/drawing/2014/main" id="{163CD64A-40E3-FADB-F1CB-4F87C988C824}"/>
              </a:ext>
            </a:extLst>
          </p:cNvPr>
          <p:cNvGraphicFramePr>
            <a:graphicFrameLocks noGrp="1"/>
          </p:cNvGraphicFramePr>
          <p:nvPr>
            <p:extLst>
              <p:ext uri="{D42A27DB-BD31-4B8C-83A1-F6EECF244321}">
                <p14:modId xmlns:p14="http://schemas.microsoft.com/office/powerpoint/2010/main" val="783805065"/>
              </p:ext>
            </p:extLst>
          </p:nvPr>
        </p:nvGraphicFramePr>
        <p:xfrm>
          <a:off x="340470" y="1869817"/>
          <a:ext cx="4141761" cy="3226216"/>
        </p:xfrm>
        <a:graphic>
          <a:graphicData uri="http://schemas.openxmlformats.org/drawingml/2006/table">
            <a:tbl>
              <a:tblPr/>
              <a:tblGrid>
                <a:gridCol w="2464469">
                  <a:extLst>
                    <a:ext uri="{9D8B030D-6E8A-4147-A177-3AD203B41FA5}">
                      <a16:colId xmlns:a16="http://schemas.microsoft.com/office/drawing/2014/main" val="3638193964"/>
                    </a:ext>
                  </a:extLst>
                </a:gridCol>
                <a:gridCol w="1677292">
                  <a:extLst>
                    <a:ext uri="{9D8B030D-6E8A-4147-A177-3AD203B41FA5}">
                      <a16:colId xmlns:a16="http://schemas.microsoft.com/office/drawing/2014/main" val="1763012035"/>
                    </a:ext>
                  </a:extLst>
                </a:gridCol>
              </a:tblGrid>
              <a:tr h="806554">
                <a:tc>
                  <a:txBody>
                    <a:bodyPr/>
                    <a:lstStyle/>
                    <a:p>
                      <a:pPr>
                        <a:buNone/>
                      </a:pPr>
                      <a:r>
                        <a:rPr lang="en-US" sz="1200">
                          <a:latin typeface="Times New Roman" panose="02020603050405020304" pitchFamily="18" charset="0"/>
                          <a:cs typeface="Times New Roman" panose="02020603050405020304" pitchFamily="18" charset="0"/>
                        </a:rPr>
                        <a:t>Item</a:t>
                      </a:r>
                    </a:p>
                  </a:txBody>
                  <a:tcPr marL="108994" marR="108994" marT="54497" marB="54497"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Estimated Cost</a:t>
                      </a:r>
                    </a:p>
                  </a:txBody>
                  <a:tcPr marL="108994" marR="108994" marT="54497" marB="54497" anchor="ctr">
                    <a:lnL>
                      <a:noFill/>
                    </a:lnL>
                    <a:lnR>
                      <a:noFill/>
                    </a:lnR>
                    <a:lnT>
                      <a:noFill/>
                    </a:lnT>
                    <a:lnB>
                      <a:noFill/>
                    </a:lnB>
                    <a:noFill/>
                  </a:tcPr>
                </a:tc>
                <a:extLst>
                  <a:ext uri="{0D108BD9-81ED-4DB2-BD59-A6C34878D82A}">
                    <a16:rowId xmlns:a16="http://schemas.microsoft.com/office/drawing/2014/main" val="3706289799"/>
                  </a:ext>
                </a:extLst>
              </a:tr>
              <a:tr h="806554">
                <a:tc>
                  <a:txBody>
                    <a:bodyPr/>
                    <a:lstStyle/>
                    <a:p>
                      <a:pPr>
                        <a:buNone/>
                      </a:pPr>
                      <a:r>
                        <a:rPr lang="en-US" sz="1200" dirty="0">
                          <a:latin typeface="Times New Roman" panose="02020603050405020304" pitchFamily="18" charset="0"/>
                          <a:cs typeface="Times New Roman" panose="02020603050405020304" pitchFamily="18" charset="0"/>
                        </a:rPr>
                        <a:t>Internet </a:t>
                      </a:r>
                    </a:p>
                  </a:txBody>
                  <a:tcPr marL="108994" marR="108994" marT="54497" marB="54497"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KES 8,000</a:t>
                      </a:r>
                    </a:p>
                  </a:txBody>
                  <a:tcPr marL="108994" marR="108994" marT="54497" marB="54497" anchor="ctr">
                    <a:lnL>
                      <a:noFill/>
                    </a:lnL>
                    <a:lnR>
                      <a:noFill/>
                    </a:lnR>
                    <a:lnT>
                      <a:noFill/>
                    </a:lnT>
                    <a:lnB>
                      <a:noFill/>
                    </a:lnB>
                    <a:noFill/>
                  </a:tcPr>
                </a:tc>
                <a:extLst>
                  <a:ext uri="{0D108BD9-81ED-4DB2-BD59-A6C34878D82A}">
                    <a16:rowId xmlns:a16="http://schemas.microsoft.com/office/drawing/2014/main" val="869318168"/>
                  </a:ext>
                </a:extLst>
              </a:tr>
              <a:tr h="806554">
                <a:tc>
                  <a:txBody>
                    <a:bodyPr/>
                    <a:lstStyle/>
                    <a:p>
                      <a:pPr>
                        <a:buNone/>
                      </a:pPr>
                      <a:r>
                        <a:rPr lang="en-US" sz="1200">
                          <a:latin typeface="Times New Roman" panose="02020603050405020304" pitchFamily="18" charset="0"/>
                          <a:cs typeface="Times New Roman" panose="02020603050405020304" pitchFamily="18" charset="0"/>
                        </a:rPr>
                        <a:t>Software tools (open-source)</a:t>
                      </a:r>
                    </a:p>
                  </a:txBody>
                  <a:tcPr marL="108994" marR="108994" marT="54497" marB="54497" anchor="ctr">
                    <a:lnL>
                      <a:noFill/>
                    </a:lnL>
                    <a:lnR>
                      <a:noFill/>
                    </a:lnR>
                    <a:lnT>
                      <a:noFill/>
                    </a:lnT>
                    <a:lnB>
                      <a:noFill/>
                    </a:lnB>
                    <a:noFill/>
                  </a:tcPr>
                </a:tc>
                <a:tc>
                  <a:txBody>
                    <a:bodyPr/>
                    <a:lstStyle/>
                    <a:p>
                      <a:pPr>
                        <a:buNone/>
                      </a:pPr>
                      <a:r>
                        <a:rPr lang="en-US" sz="1200">
                          <a:latin typeface="Times New Roman" panose="02020603050405020304" pitchFamily="18" charset="0"/>
                          <a:cs typeface="Times New Roman" panose="02020603050405020304" pitchFamily="18" charset="0"/>
                        </a:rPr>
                        <a:t>KES 0</a:t>
                      </a:r>
                    </a:p>
                  </a:txBody>
                  <a:tcPr marL="108994" marR="108994" marT="54497" marB="54497" anchor="ctr">
                    <a:lnL>
                      <a:noFill/>
                    </a:lnL>
                    <a:lnR>
                      <a:noFill/>
                    </a:lnR>
                    <a:lnT>
                      <a:noFill/>
                    </a:lnT>
                    <a:lnB>
                      <a:noFill/>
                    </a:lnB>
                    <a:noFill/>
                  </a:tcPr>
                </a:tc>
                <a:extLst>
                  <a:ext uri="{0D108BD9-81ED-4DB2-BD59-A6C34878D82A}">
                    <a16:rowId xmlns:a16="http://schemas.microsoft.com/office/drawing/2014/main" val="1141624936"/>
                  </a:ext>
                </a:extLst>
              </a:tr>
              <a:tr h="806554">
                <a:tc>
                  <a:txBody>
                    <a:bodyPr/>
                    <a:lstStyle/>
                    <a:p>
                      <a:pPr>
                        <a:buNone/>
                      </a:pPr>
                      <a:r>
                        <a:rPr lang="en-US" sz="1200" dirty="0">
                          <a:latin typeface="Times New Roman" panose="02020603050405020304" pitchFamily="18" charset="0"/>
                          <a:cs typeface="Times New Roman" panose="02020603050405020304" pitchFamily="18" charset="0"/>
                        </a:rPr>
                        <a:t>Printing and binding</a:t>
                      </a:r>
                    </a:p>
                    <a:p>
                      <a:pPr>
                        <a:buNone/>
                      </a:pPr>
                      <a:r>
                        <a:rPr lang="en-US" sz="1200" b="1" dirty="0">
                          <a:latin typeface="Times New Roman" panose="02020603050405020304" pitchFamily="18" charset="0"/>
                          <a:cs typeface="Times New Roman" panose="02020603050405020304" pitchFamily="18" charset="0"/>
                        </a:rPr>
                        <a:t>Total</a:t>
                      </a:r>
                      <a:r>
                        <a:rPr lang="en-US" sz="1200" dirty="0">
                          <a:latin typeface="Times New Roman" panose="02020603050405020304" pitchFamily="18" charset="0"/>
                          <a:cs typeface="Times New Roman" panose="02020603050405020304" pitchFamily="18" charset="0"/>
                        </a:rPr>
                        <a:t> </a:t>
                      </a:r>
                    </a:p>
                  </a:txBody>
                  <a:tcPr marL="108994" marR="108994" marT="54497" marB="54497" anchor="ctr">
                    <a:lnL>
                      <a:noFill/>
                    </a:lnL>
                    <a:lnR>
                      <a:noFill/>
                    </a:lnR>
                    <a:lnT>
                      <a:noFill/>
                    </a:lnT>
                    <a:lnB>
                      <a:noFill/>
                    </a:lnB>
                    <a:noFill/>
                  </a:tcPr>
                </a:tc>
                <a:tc>
                  <a:txBody>
                    <a:bodyPr/>
                    <a:lstStyle/>
                    <a:p>
                      <a:pPr>
                        <a:buNone/>
                      </a:pPr>
                      <a:r>
                        <a:rPr lang="en-US" sz="1200" dirty="0">
                          <a:latin typeface="Times New Roman" panose="02020603050405020304" pitchFamily="18" charset="0"/>
                          <a:cs typeface="Times New Roman" panose="02020603050405020304" pitchFamily="18" charset="0"/>
                        </a:rPr>
                        <a:t>KES 3000</a:t>
                      </a:r>
                    </a:p>
                    <a:p>
                      <a:pPr>
                        <a:buNone/>
                      </a:pPr>
                      <a:endParaRPr lang="en-US" sz="1200" dirty="0">
                        <a:latin typeface="Times New Roman" panose="02020603050405020304" pitchFamily="18" charset="0"/>
                        <a:cs typeface="Times New Roman" panose="02020603050405020304" pitchFamily="18" charset="0"/>
                      </a:endParaRPr>
                    </a:p>
                    <a:p>
                      <a:pPr>
                        <a:buNone/>
                      </a:pPr>
                      <a:r>
                        <a:rPr lang="en-US" sz="1200" dirty="0">
                          <a:latin typeface="Times New Roman" panose="02020603050405020304" pitchFamily="18" charset="0"/>
                          <a:cs typeface="Times New Roman" panose="02020603050405020304" pitchFamily="18" charset="0"/>
                        </a:rPr>
                        <a:t>11,000</a:t>
                      </a:r>
                    </a:p>
                  </a:txBody>
                  <a:tcPr marL="108994" marR="108994" marT="54497" marB="54497" anchor="ctr">
                    <a:lnL>
                      <a:noFill/>
                    </a:lnL>
                    <a:lnR>
                      <a:noFill/>
                    </a:lnR>
                    <a:lnT>
                      <a:noFill/>
                    </a:lnT>
                    <a:lnB>
                      <a:noFill/>
                    </a:lnB>
                    <a:noFill/>
                  </a:tcPr>
                </a:tc>
                <a:extLst>
                  <a:ext uri="{0D108BD9-81ED-4DB2-BD59-A6C34878D82A}">
                    <a16:rowId xmlns:a16="http://schemas.microsoft.com/office/drawing/2014/main" val="856411318"/>
                  </a:ext>
                </a:extLst>
              </a:tr>
            </a:tbl>
          </a:graphicData>
        </a:graphic>
      </p:graphicFrame>
    </p:spTree>
    <p:extLst>
      <p:ext uri="{BB962C8B-B14F-4D97-AF65-F5344CB8AC3E}">
        <p14:creationId xmlns:p14="http://schemas.microsoft.com/office/powerpoint/2010/main" val="1905514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07C574D-7C74-60F5-594D-96A2D1022BF7}"/>
              </a:ext>
            </a:extLst>
          </p:cNvPr>
          <p:cNvSpPr>
            <a:spLocks noGrp="1"/>
          </p:cNvSpPr>
          <p:nvPr>
            <p:ph idx="1"/>
          </p:nvPr>
        </p:nvSpPr>
        <p:spPr>
          <a:xfrm>
            <a:off x="1155548" y="2217343"/>
            <a:ext cx="9880893" cy="3959619"/>
          </a:xfrm>
        </p:spPr>
        <p:txBody>
          <a:bodyPr>
            <a:normAutofit/>
          </a:bodyPr>
          <a:lstStyle/>
          <a:p>
            <a:pPr marL="0" indent="0">
              <a:buNone/>
            </a:pPr>
            <a:r>
              <a:rPr lang="en-US" sz="1300" b="1">
                <a:latin typeface="Times New Roman" panose="02020603050405020304" pitchFamily="18" charset="0"/>
                <a:cs typeface="Times New Roman" panose="02020603050405020304" pitchFamily="18" charset="0"/>
              </a:rPr>
              <a:t>ABSTRACT</a:t>
            </a:r>
          </a:p>
          <a:p>
            <a:pPr>
              <a:buFont typeface="Wingdings" panose="05000000000000000000" pitchFamily="2" charset="2"/>
              <a:buChar char="Ø"/>
            </a:pPr>
            <a:r>
              <a:rPr lang="en-US" sz="1300">
                <a:latin typeface="Times New Roman" panose="02020603050405020304" pitchFamily="18" charset="0"/>
                <a:cs typeface="Times New Roman" panose="02020603050405020304" pitchFamily="18" charset="0"/>
              </a:rPr>
              <a:t>The rise of data from smart city services and the emergence of advanced machine learning algorithms have emphasized the need for a deeper understanding of the underlying patterns of urban mobility in rapidly growing metropolitan areas like Nairobi. </a:t>
            </a:r>
          </a:p>
          <a:p>
            <a:pPr>
              <a:buFont typeface="Wingdings" panose="05000000000000000000" pitchFamily="2" charset="2"/>
              <a:buChar char="Ø"/>
            </a:pPr>
            <a:r>
              <a:rPr lang="en-US" sz="1300">
                <a:latin typeface="Times New Roman" panose="02020603050405020304" pitchFamily="18" charset="0"/>
                <a:cs typeface="Times New Roman" panose="02020603050405020304" pitchFamily="18" charset="0"/>
              </a:rPr>
              <a:t>While traditional traffic analysis often focuses on static vehicle counts at fixed locations, this perspective overlooks the dynamic, temporal nature of congestion and the impact of external variables such as weather events. </a:t>
            </a:r>
          </a:p>
          <a:p>
            <a:pPr>
              <a:buFont typeface="Wingdings" panose="05000000000000000000" pitchFamily="2" charset="2"/>
              <a:buChar char="Ø"/>
            </a:pPr>
            <a:r>
              <a:rPr lang="en-US" sz="1300">
                <a:latin typeface="Times New Roman" panose="02020603050405020304" pitchFamily="18" charset="0"/>
                <a:cs typeface="Times New Roman" panose="02020603050405020304" pitchFamily="18" charset="0"/>
              </a:rPr>
              <a:t>This study addresses this gap by leveraging large-scale mobility datasets—specifically ride-sharing and GPS trip records—to map traffic density and identify chronic bottlenecks across Nairobi’s taxi zones.</a:t>
            </a:r>
          </a:p>
          <a:p>
            <a:pPr>
              <a:buFont typeface="Wingdings" panose="05000000000000000000" pitchFamily="2" charset="2"/>
              <a:buChar char="Ø"/>
            </a:pPr>
            <a:r>
              <a:rPr lang="en-US" sz="1300">
                <a:latin typeface="Times New Roman" panose="02020603050405020304" pitchFamily="18" charset="0"/>
                <a:cs typeface="Times New Roman" panose="02020603050405020304" pitchFamily="18" charset="0"/>
              </a:rPr>
              <a:t>Rather than viewing traffic as a purely geographic issue, this research explores parallel urban functionalities and mobility similarities between disparate regions.</a:t>
            </a:r>
          </a:p>
          <a:p>
            <a:pPr>
              <a:buFont typeface="Wingdings" panose="05000000000000000000" pitchFamily="2" charset="2"/>
              <a:buChar char="Ø"/>
            </a:pPr>
            <a:r>
              <a:rPr lang="en-US" sz="1300">
                <a:latin typeface="Times New Roman" panose="02020603050405020304" pitchFamily="18" charset="0"/>
                <a:cs typeface="Times New Roman" panose="02020603050405020304" pitchFamily="18" charset="0"/>
              </a:rPr>
              <a:t> A key component of this study is the introduction of a predictive framework employing Long Short-Term Memory (LSTM) networks and Dynamic Time Warping (DTW) to quantitatively assess patterns of movement and forecast flow deviations. </a:t>
            </a:r>
          </a:p>
          <a:p>
            <a:pPr>
              <a:buFont typeface="Wingdings" panose="05000000000000000000" pitchFamily="2" charset="2"/>
              <a:buChar char="Ø"/>
            </a:pPr>
            <a:r>
              <a:rPr lang="en-US" sz="1300">
                <a:latin typeface="Times New Roman" panose="02020603050405020304" pitchFamily="18" charset="0"/>
                <a:cs typeface="Times New Roman" panose="02020603050405020304" pitchFamily="18" charset="0"/>
              </a:rPr>
              <a:t>Furthermore, the study tests the hypothesis that extreme weather events significantly alter ride-sharing demand and traffic velocity, revealing critical gaps in the existing public transport infrastructure.</a:t>
            </a:r>
          </a:p>
          <a:p>
            <a:pPr>
              <a:buFont typeface="Wingdings" panose="05000000000000000000" pitchFamily="2" charset="2"/>
              <a:buChar char="Ø"/>
            </a:pPr>
            <a:r>
              <a:rPr lang="en-US" sz="1300">
                <a:latin typeface="Times New Roman" panose="02020603050405020304" pitchFamily="18" charset="0"/>
                <a:cs typeface="Times New Roman" panose="02020603050405020304" pitchFamily="18" charset="0"/>
              </a:rPr>
              <a:t>The results will  demonstrate the effectiveness of the proposed data-driven model in capturing complex mobility patterns across different locations and days of the week. By providing a high-level visualization dashboard, this research offers actionable insights for city planners and policymakers to implement proactive traffic management and optimize urban transit networks in Nairobi.</a:t>
            </a:r>
          </a:p>
          <a:p>
            <a:endParaRPr lang="en-US" sz="13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1178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1623</TotalTime>
  <Words>1094</Words>
  <Application>Microsoft Office PowerPoint</Application>
  <PresentationFormat>Widescreen</PresentationFormat>
  <Paragraphs>79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RITA</dc:creator>
  <cp:lastModifiedBy>Rita Timinah</cp:lastModifiedBy>
  <cp:revision>5</cp:revision>
  <dcterms:created xsi:type="dcterms:W3CDTF">2026-01-28T06:04:41Z</dcterms:created>
  <dcterms:modified xsi:type="dcterms:W3CDTF">2026-03-12T14:26:26Z</dcterms:modified>
</cp:coreProperties>
</file>